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893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859536"/>
            <a:ext cx="5212080" cy="2980944"/>
          </a:xfrm>
          <a:prstGeom prst="ellipse">
            <a:avLst/>
          </a:prstGeom>
          <a:solidFill>
            <a:srgbClr val="002233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12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QUAKEINTEL</a:t>
            </a:r>
            <a:endParaRPr lang="en-US" sz="6400" dirty="0"/>
          </a:p>
        </p:txBody>
      </p:sp>
      <p:sp>
        <p:nvSpPr>
          <p:cNvPr id="18" name="Shape 16"/>
          <p:cNvSpPr/>
          <p:nvPr/>
        </p:nvSpPr>
        <p:spPr>
          <a:xfrm>
            <a:off x="1371600" y="1874520"/>
            <a:ext cx="64008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6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SEISMOSENSE v4.3.5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2359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Seismic Synthesis &amp; Global Hazard Intelligence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0" y="2816352"/>
            <a:ext cx="4572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077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VANSH AGRAWAL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Reg. No.  RA2311026010120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SRM Institute of Science &amp; Technology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886200"/>
            <a:ext cx="1188720" cy="274320"/>
          </a:xfrm>
          <a:prstGeom prst="rect">
            <a:avLst/>
          </a:prstGeom>
          <a:solidFill>
            <a:srgbClr val="164E6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886200"/>
            <a:ext cx="1188720" cy="274320"/>
          </a:xfrm>
          <a:prstGeom prst="rect">
            <a:avLst/>
          </a:prstGeom>
          <a:solidFill>
            <a:srgbClr val="164E6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3886200"/>
            <a:ext cx="1188720" cy="274320"/>
          </a:xfrm>
          <a:prstGeom prst="rect">
            <a:avLst/>
          </a:prstGeom>
          <a:solidFill>
            <a:srgbClr val="164E6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3886200"/>
            <a:ext cx="1188720" cy="274320"/>
          </a:xfrm>
          <a:prstGeom prst="rect">
            <a:avLst/>
          </a:prstGeom>
          <a:solidFill>
            <a:srgbClr val="164E6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Three.js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3886200"/>
            <a:ext cx="1188720" cy="274320"/>
          </a:xfrm>
          <a:prstGeom prst="rect">
            <a:avLst/>
          </a:prstGeom>
          <a:solidFill>
            <a:srgbClr val="164E6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132320" y="3886200"/>
            <a:ext cx="1188720" cy="274320"/>
          </a:xfrm>
          <a:prstGeom prst="rect">
            <a:avLst/>
          </a:prstGeom>
          <a:solidFill>
            <a:srgbClr val="164E6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USGS Data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Briefing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 — SEISMOSENSE INTELLIGENCE PACKAGE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1005840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005840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0058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10424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Abstract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12801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Overview &amp; Vision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1664208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664208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66420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17007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Theoretical Framework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193852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Multi-Hazard Synthesis Matrix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322576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322576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32257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23591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Intelligence Core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2596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Architecture &amp; Training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2980944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980944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98094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0120" y="30175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Intelligence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32552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DBSCAN Clustering &amp; Hotspot Analysis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3639312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639312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3931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0120" y="36758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Lab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0120" y="391363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Three.js 3D Volumetric Rendering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4297680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297680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29768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0120" y="43342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Desk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0120" y="45720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Dual-Pane GIS Analytics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1005840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1005840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10058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57800" y="10424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Metrics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57800" y="12801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Accuracy, F1-Score &amp; Latency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1664208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63440" y="1664208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166420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257800" y="17007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57800" y="193852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Architecture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2322576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63440" y="2322576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63440" y="232257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257800" y="23591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Logic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257800" y="2596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Hypocenter Gate &amp; Depth Decay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63440" y="2980944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63440" y="2980944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0" y="298094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257800" y="30175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Stack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257800" y="32552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Technology Overview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663440" y="3639312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63440" y="3639312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0" y="363931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5257800" y="36758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257800" y="391363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&amp; Innovation Summary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663440" y="4297680"/>
            <a:ext cx="4114800" cy="53035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63440" y="4297680"/>
            <a:ext cx="502920" cy="530352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3440" y="429768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5257800" y="43342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257800" y="45720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Vision: Digital Seismic Surveillance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Abstract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INTELLIGENCE OVERVIEW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164E6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QuakeIntel</a:t>
            </a:r>
            <a:r>
              <a:rPr lang="en-US" sz="14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is a high-fidelity intelligence platform engineered for </a:t>
            </a: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synchronous planetary monitoring</a:t>
            </a:r>
            <a:r>
              <a:rPr lang="en-US" sz="14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and </a:t>
            </a: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probabilistic hazard forecasting</a:t>
            </a:r>
            <a:r>
              <a:rPr lang="en-US" sz="14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bridging raw lithospheric telemetry and actionable geospatial intelligence.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2651760" cy="2423160"/>
          </a:xfrm>
          <a:prstGeom prst="rect">
            <a:avLst/>
          </a:prstGeom>
          <a:solidFill>
            <a:srgbClr val="1A2535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148840"/>
            <a:ext cx="265176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286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SENSING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6974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Synchronous monitoring of planetary seismic activity across 72,508 USGS records spanning 2015–2024.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148840"/>
            <a:ext cx="2651760" cy="2423160"/>
          </a:xfrm>
          <a:prstGeom prst="rect">
            <a:avLst/>
          </a:prstGeom>
          <a:solidFill>
            <a:srgbClr val="1A25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14884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286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PROBABILISTIC FORECASTING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26974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Ensemble Core synthesizes historical patterns into forward-looking risk grids with 98.17% accuracy.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2148840"/>
            <a:ext cx="2651760" cy="2423160"/>
          </a:xfrm>
          <a:prstGeom prst="rect">
            <a:avLst/>
          </a:prstGeom>
          <a:solidFill>
            <a:srgbClr val="1A25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14884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286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ACTIONABLE INTELLIGENCE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26974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Multi-hazard assessment covering Tectonic Shift, Tsunami Surge, and Infrastructure Vulnerability.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Theoretical Framework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MULTI-HAZARD SYNTHESIS MATRIX &amp; PHYSICAL SAFETY CEILINGS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960120"/>
            <a:ext cx="2651760" cy="2286000"/>
          </a:xfrm>
          <a:prstGeom prst="rect">
            <a:avLst/>
          </a:prstGeom>
          <a:solidFill>
            <a:srgbClr val="1A253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1051560"/>
            <a:ext cx="640080" cy="64008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10241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1828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TECTONIC SHIFT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" y="2157984"/>
            <a:ext cx="2432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magnitude-probabilistic risk assessment. Evaluates fault slip potential, historical cluster density, and temporal quiescence windows.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960120"/>
            <a:ext cx="2651760" cy="2286000"/>
          </a:xfrm>
          <a:prstGeom prst="rect">
            <a:avLst/>
          </a:prstGeom>
          <a:solidFill>
            <a:srgbClr val="1A2535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1051560"/>
            <a:ext cx="640080" cy="640080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10241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91840" y="1828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TSUNAMI SURGE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2157984"/>
            <a:ext cx="2432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Coastal threat assessment weighting seismic magnitude against shallow-water hypocenters (Depth &lt; 50km). Scores ocean-bed rupture intensity.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960120"/>
            <a:ext cx="2651760" cy="2286000"/>
          </a:xfrm>
          <a:prstGeom prst="rect">
            <a:avLst/>
          </a:prstGeom>
          <a:solidFill>
            <a:srgbClr val="1A25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1051560"/>
            <a:ext cx="640080" cy="6400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02412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26480" y="1828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 VULNERABILITY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44768" y="2157984"/>
            <a:ext cx="2432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Infrastructure-focused scoring using regional historical intensity and urban density proxies to estimate structural loss potential.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383280"/>
            <a:ext cx="8412480" cy="1325880"/>
          </a:xfrm>
          <a:prstGeom prst="rect">
            <a:avLst/>
          </a:prstGeom>
          <a:solidFill>
            <a:srgbClr val="1A253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383280"/>
            <a:ext cx="84124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4930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 SAFETY CEILINGS — Scientific Integrity Constraints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378561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Exponential Depth Decay:  </a:t>
            </a: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= e^(−depth ÷ 120)  </a:t>
            </a: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Hazard potential dissipates exponentially with increasing focal depth, ensuring deep-earth activity registers accurately as low surface threat.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418795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Hypocenter Gate:  </a:t>
            </a: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originating at depths ≥ 300km are auto-classified  </a:t>
            </a: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NOMINAL</a:t>
            </a:r>
            <a:r>
              <a:rPr lang="en-US" sz="10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regardless of raw magnitude.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Intelligence Core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ARCHITECTURE — ENSEMBLE LEARNING ENGINE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960120"/>
            <a:ext cx="4023360" cy="3749040"/>
          </a:xfrm>
          <a:prstGeom prst="rect">
            <a:avLst/>
          </a:prstGeom>
          <a:solidFill>
            <a:srgbClr val="1A253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417320"/>
            <a:ext cx="3840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1155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Family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03120" y="111556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Classifier (Ensemble)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1755648"/>
            <a:ext cx="3840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14538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Records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03120" y="14538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72,508 USGS Seismic Events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093976"/>
            <a:ext cx="3840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179222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Range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03120" y="179222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2015 – 2024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2432304"/>
            <a:ext cx="3840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1305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Source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03120" y="213055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USGS Earthquake Archive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2770632"/>
            <a:ext cx="3840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46888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Variable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03120" y="246888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Hazard Classification (3-tier)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108960"/>
            <a:ext cx="3840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80720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Method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03120" y="280720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Stratified K-Fold Cross-Val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3447288"/>
            <a:ext cx="3840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14553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103120" y="314553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Magnitude, Depth, Lat/Lon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3785616"/>
            <a:ext cx="3840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48386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Derived Features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103120" y="348386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Quiescence, TSL Index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4123944"/>
            <a:ext cx="3840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82219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Features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103120" y="382219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DBSCAN Spatial Density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4462272"/>
            <a:ext cx="3840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16052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Encoding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103120" y="416052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Exponential Decay Transform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960120"/>
            <a:ext cx="4114800" cy="1691640"/>
          </a:xfrm>
          <a:prstGeom prst="rect">
            <a:avLst/>
          </a:prstGeom>
          <a:solidFill>
            <a:srgbClr val="1A25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10241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00600" y="13258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Quiescence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00600" y="1554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 silence periods between seismic events in a spatial cell. Long silence = elevated stress accumulation.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00600" y="19842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Time-Since-Last (TSL)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00600" y="2212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Encodes recency of last recorded event per region — a proxy for fault re-activation probability.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816352"/>
            <a:ext cx="4114800" cy="1874520"/>
          </a:xfrm>
          <a:prstGeom prst="rect">
            <a:avLst/>
          </a:prstGeom>
          <a:solidFill>
            <a:srgbClr val="1A25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889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XGBOOST?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00600" y="32004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</a:t>
            </a: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Handles non-linear interactions between magnitude, depth, and location natively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00600" y="35478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</a:t>
            </a: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 to class imbalance — critical in rare high-magnitude event detection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800600" y="38953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</a:t>
            </a: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support for feature importance ranking — interpretability for scientists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800600" y="424281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</a:t>
            </a: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Superior AUC performance (0.98+) vs. SVM, Random Forest on seismic data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Intelligence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DBSCAN CLUSTERING — SEISMIC HOTSPOT ANALYSIS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987552"/>
            <a:ext cx="5029200" cy="3566160"/>
          </a:xfrm>
          <a:prstGeom prst="rect">
            <a:avLst/>
          </a:prstGeom>
          <a:solidFill>
            <a:srgbClr val="060D1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04241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GLOBAL SEISMIC DENSITY MAP — DBSCAN OUTPUT ]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421892" y="286664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4772" y="277520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96212" y="304952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13332" y="314096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7652" y="268376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0452" y="259232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79092" y="295808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32304" y="277977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15184" y="268833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3744" y="296265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06624" y="287121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40864" y="287121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89504" y="341985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72384" y="351129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80944" y="369417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63824" y="360273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98064" y="360273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5276" y="388162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48156" y="379018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56716" y="406450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39596" y="397306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34156" y="251002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17036" y="260146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25596" y="278434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08476" y="269290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48556" y="415594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31436" y="406450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39996" y="424738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22876" y="415594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86534" y="4162806"/>
            <a:ext cx="50292" cy="502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98214" y="3248406"/>
            <a:ext cx="50292" cy="502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66694" y="4802886"/>
            <a:ext cx="50292" cy="502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81094" y="2334006"/>
            <a:ext cx="50292" cy="502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0694" y="3248406"/>
            <a:ext cx="50292" cy="502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69414" y="5168646"/>
            <a:ext cx="50292" cy="502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29734" y="2974086"/>
            <a:ext cx="50292" cy="502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17186" y="2155698"/>
            <a:ext cx="41148" cy="411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00066" y="4441698"/>
            <a:ext cx="41148" cy="411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19906" y="3893058"/>
            <a:ext cx="41148" cy="411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16786" y="4624578"/>
            <a:ext cx="41148" cy="411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85666" y="4624578"/>
            <a:ext cx="41148" cy="411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" y="39776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" y="39410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RISK  — Core Cluster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48640" y="414223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" y="41056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RISK — Sub-cluster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48640" y="430682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3232" y="42702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RISK    — Outlier Events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577840" y="987552"/>
            <a:ext cx="3200400" cy="3566160"/>
          </a:xfrm>
          <a:prstGeom prst="rect">
            <a:avLst/>
          </a:prstGeom>
          <a:solidFill>
            <a:srgbClr val="1A25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15000" y="10789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DBSCAN ENGINE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715000" y="1371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Density-Based Spatial Clustering of Applications with Noise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715000" y="1773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Algorithm: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086600" y="1773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DBSCAN (sklearn)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715000" y="2066544"/>
            <a:ext cx="29260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15000" y="21214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Space: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086600" y="21214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 × Lon Grid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715000" y="2414016"/>
            <a:ext cx="29260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15000" y="2468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Output: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086600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Hotspot Density Index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715000" y="2761488"/>
            <a:ext cx="29260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15000" y="2816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 Events: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086600" y="2816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Classified as Outliers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715000" y="3108960"/>
            <a:ext cx="29260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15000" y="31638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in Model: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086600" y="31638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Feature: cluster_density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5715000" y="3456432"/>
            <a:ext cx="29260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15000" y="35112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Plate Coverage: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086600" y="35112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Major Tectonic Plates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715000" y="3803904"/>
            <a:ext cx="29260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715000" y="3858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Freq.: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086600" y="3858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Analysis Run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715000" y="4151376"/>
            <a:ext cx="29260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Lab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THREE.JS VOLUMETRIC 3D SEISMIC RECONSTRUCTION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960120"/>
            <a:ext cx="4663440" cy="3703320"/>
          </a:xfrm>
          <a:prstGeom prst="rect">
            <a:avLst/>
          </a:prstGeom>
          <a:solidFill>
            <a:srgbClr val="040A1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02412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THREE.JS VOLUMETRIC RENDER — LIVE SIMULATION ]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14400" y="1417320"/>
            <a:ext cx="3200400" cy="320040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1417320"/>
            <a:ext cx="3200400" cy="3200400"/>
          </a:xfrm>
          <a:prstGeom prst="ellipse">
            <a:avLst/>
          </a:prstGeom>
          <a:solidFill>
            <a:srgbClr val="0D3B6E">
              <a:alpha val="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1417320"/>
            <a:ext cx="1920240" cy="3200400"/>
          </a:xfrm>
          <a:prstGeom prst="ellipse">
            <a:avLst/>
          </a:prstGeom>
          <a:solidFill>
            <a:srgbClr val="0D3B6E">
              <a:alpha val="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4560" y="1417320"/>
            <a:ext cx="640080" cy="3200400"/>
          </a:xfrm>
          <a:prstGeom prst="ellipse">
            <a:avLst/>
          </a:prstGeom>
          <a:solidFill>
            <a:srgbClr val="0D3B6E">
              <a:alpha val="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1417320"/>
            <a:ext cx="0" cy="3200400"/>
          </a:xfrm>
          <a:prstGeom prst="ellipse">
            <a:avLst/>
          </a:prstGeom>
          <a:solidFill>
            <a:srgbClr val="0D3B6E">
              <a:alpha val="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1920240"/>
            <a:ext cx="3200400" cy="2194560"/>
          </a:xfrm>
          <a:prstGeom prst="ellipse">
            <a:avLst/>
          </a:prstGeom>
          <a:solidFill>
            <a:srgbClr val="0D3B6E">
              <a:alpha val="0"/>
            </a:srgbClr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2423160"/>
            <a:ext cx="3200400" cy="1188720"/>
          </a:xfrm>
          <a:prstGeom prst="ellipse">
            <a:avLst/>
          </a:prstGeom>
          <a:solidFill>
            <a:srgbClr val="0D3B6E">
              <a:alpha val="0"/>
            </a:srgbClr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2926080"/>
            <a:ext cx="3200400" cy="182880"/>
          </a:xfrm>
          <a:prstGeom prst="ellipse">
            <a:avLst/>
          </a:prstGeom>
          <a:solidFill>
            <a:srgbClr val="0D3B6E">
              <a:alpha val="0"/>
            </a:srgbClr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3429000"/>
            <a:ext cx="3200400" cy="0"/>
          </a:xfrm>
          <a:prstGeom prst="ellipse">
            <a:avLst/>
          </a:prstGeom>
          <a:solidFill>
            <a:srgbClr val="0D3B6E">
              <a:alpha val="0"/>
            </a:srgbClr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73352" y="185623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31136" y="168249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80360" y="20574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21892" y="279349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38144" y="3163824"/>
            <a:ext cx="73152" cy="7315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88236" y="3625596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0108" y="2510028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32888" y="4087368"/>
            <a:ext cx="54864" cy="5486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43584" y="38039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27882" y="1799082"/>
            <a:ext cx="59436" cy="594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71116" y="3168396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83764" y="26837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4074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Color = Depth Tier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" y="458114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" y="45445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70km (Shallow)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965960" y="45811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30552" y="45445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70–300km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429000" y="458114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93592" y="45445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300km (Deep)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212080" y="960120"/>
            <a:ext cx="3566160" cy="3703320"/>
          </a:xfrm>
          <a:prstGeom prst="rect">
            <a:avLst/>
          </a:prstGeom>
          <a:solidFill>
            <a:srgbClr val="1A25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49240" y="10515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ENGINE CAPABILITIES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321808" y="1417320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14173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Realistic Globe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0" y="16367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High-res satellite imagery with topology bump mapping and emissive night-light maps for photorealistic planetary surface.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321808" y="2057400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20574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Volumetric Mapping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0" y="22768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Seismic hypocenter nodes mapped in true 3D space using actual Z-axis mantle coordinates — depth becomes visual depth.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321808" y="2697480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0" y="269748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Synchronous Rotation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0" y="29169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points geo-pinned to exact coordinates, rotating in 1:1 sync with the planetary surface in real time.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321808" y="3337560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0" y="33375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WebGL Rendering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486400" y="35570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Hardware-accelerated Three.js canvas delivers sub-frame rendering of thousands of concurrent seismic nodes.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321808" y="3977640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397764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Depth Color Grading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86400" y="41970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Color-coded depth tiers allow instant visual triage of shallow vs. deep events on the rotating globe.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Desk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DUAL-PANE GIS ANALYTICS &amp; RISK TIER SCORING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960120"/>
            <a:ext cx="4023360" cy="3703320"/>
          </a:xfrm>
          <a:prstGeom prst="rect">
            <a:avLst/>
          </a:prstGeom>
          <a:solidFill>
            <a:srgbClr val="060C1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0241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 A — GIS LOCATION TARGETER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1298448"/>
            <a:ext cx="4023360" cy="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755648"/>
            <a:ext cx="4023360" cy="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212848"/>
            <a:ext cx="4023360" cy="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670048"/>
            <a:ext cx="4023360" cy="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127248"/>
            <a:ext cx="4023360" cy="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84448"/>
            <a:ext cx="4023360" cy="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41648"/>
            <a:ext cx="4023360" cy="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1298448"/>
            <a:ext cx="0" cy="320040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1298448"/>
            <a:ext cx="0" cy="320040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1298448"/>
            <a:ext cx="0" cy="320040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7360" y="1298448"/>
            <a:ext cx="0" cy="320040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1298448"/>
            <a:ext cx="0" cy="320040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1298448"/>
            <a:ext cx="0" cy="320040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1298448"/>
            <a:ext cx="0" cy="320040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1298448"/>
            <a:ext cx="0" cy="320040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1298448"/>
            <a:ext cx="0" cy="3200400"/>
          </a:xfrm>
          <a:prstGeom prst="line">
            <a:avLst/>
          </a:prstGeom>
          <a:noFill/>
          <a:ln w="6350">
            <a:solidFill>
              <a:srgbClr val="122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0" y="2651760"/>
            <a:ext cx="54864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2377440"/>
            <a:ext cx="0" cy="54864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48840" y="2514600"/>
            <a:ext cx="274320" cy="27432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206240"/>
            <a:ext cx="3657600" cy="347472"/>
          </a:xfrm>
          <a:prstGeom prst="rect">
            <a:avLst/>
          </a:prstGeom>
          <a:solidFill>
            <a:srgbClr val="0011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2519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LAT: 35.6762° N   |   LON: 139.6503° E   |   TOKYO, JP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17720" y="960120"/>
            <a:ext cx="4160520" cy="3703320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02412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 B — CONFIDENTIAL HAZARD REPORT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754880" y="1371600"/>
            <a:ext cx="3886200" cy="877824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1444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TECTONIC SHIFT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78040" y="14447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RISK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92040" y="1755648"/>
            <a:ext cx="3611880" cy="182880"/>
          </a:xfrm>
          <a:prstGeom prst="rect">
            <a:avLst/>
          </a:prstGeom>
          <a:solidFill>
            <a:srgbClr val="0A0F1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92040" y="1755648"/>
            <a:ext cx="3142336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19751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2450592"/>
            <a:ext cx="3886200" cy="877824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25237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TSUNAMI SURGE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178040" y="25237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2834640"/>
            <a:ext cx="3611880" cy="182880"/>
          </a:xfrm>
          <a:prstGeom prst="rect">
            <a:avLst/>
          </a:prstGeom>
          <a:solidFill>
            <a:srgbClr val="0A0F1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92040" y="2834640"/>
            <a:ext cx="260055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30540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54880" y="3529584"/>
            <a:ext cx="3886200" cy="877824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6027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 VULNERABILITY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178040" y="360273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92040" y="3913632"/>
            <a:ext cx="3611880" cy="182880"/>
          </a:xfrm>
          <a:prstGeom prst="rect">
            <a:avLst/>
          </a:prstGeom>
          <a:solidFill>
            <a:srgbClr val="0A0F1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92040" y="3913632"/>
            <a:ext cx="3286811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92040" y="41330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754880" y="4315968"/>
            <a:ext cx="3886200" cy="256032"/>
          </a:xfrm>
          <a:prstGeom prst="rect">
            <a:avLst/>
          </a:prstGeom>
          <a:solidFill>
            <a:srgbClr val="00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433425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 Powered by Leaflet.js — Interactive GIS Workstation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Metrics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INTELLIGENCE BENCHMARKS — v4.3.5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960120"/>
            <a:ext cx="1920240" cy="1691640"/>
          </a:xfrm>
          <a:prstGeom prst="rect">
            <a:avLst/>
          </a:prstGeom>
          <a:solidFill>
            <a:srgbClr val="1A2535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960120"/>
            <a:ext cx="192024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98.17%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ULTIMATE ACCURACY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2066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 Test Set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87168" y="960120"/>
            <a:ext cx="1920240" cy="1691640"/>
          </a:xfrm>
          <a:prstGeom prst="rect">
            <a:avLst/>
          </a:prstGeom>
          <a:solidFill>
            <a:srgbClr val="1A25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960120"/>
            <a:ext cx="19202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32888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0.9726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578608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F1-SCORE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78608" y="2066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Stabilized &amp; Optimized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08576" y="960120"/>
            <a:ext cx="1920240" cy="1691640"/>
          </a:xfrm>
          <a:prstGeom prst="rect">
            <a:avLst/>
          </a:prstGeom>
          <a:solidFill>
            <a:srgbClr val="1A25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08576" y="960120"/>
            <a:ext cx="1920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&lt;120ms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700016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SENSING LATENCY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00016" y="2066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Response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29984" y="960120"/>
            <a:ext cx="1920240" cy="1691640"/>
          </a:xfrm>
          <a:prstGeom prst="rect">
            <a:avLst/>
          </a:prstGeom>
          <a:solidFill>
            <a:srgbClr val="1A253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29984" y="960120"/>
            <a:ext cx="192024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75704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72,508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821424" y="1801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RECORDS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21424" y="2066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USGS Archive (2015–24)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2816352"/>
            <a:ext cx="8412480" cy="1810512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1691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0F1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0F1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Value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0F1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Benchmark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0F1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Ultimate Accuracy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98.17%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&gt; 95% (Target)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✓ EXCEEDED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F1-Score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0.9726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&gt; 0.95 (Target)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✓ EXCEEDED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AUC-ROC Score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0.9819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&gt; 0.90 (Target)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✓ EXCEEDED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Sensing Latency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&lt; 120ms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&lt; 200ms (SLA)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✓ WITHIN SLA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Training Dataset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72,508 records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USGS 2015–2024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✓ VERIFIED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Shape 4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 Architecture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INTELLIGENCE FLOW — RAW DATA TO HAZARD SYNTHESIS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" y="987552"/>
            <a:ext cx="1417320" cy="1463040"/>
          </a:xfrm>
          <a:prstGeom prst="rect">
            <a:avLst/>
          </a:prstGeom>
          <a:solidFill>
            <a:srgbClr val="1A2535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" y="987552"/>
            <a:ext cx="141732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" y="10972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6304" y="162763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SEISMIC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" y="21305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72,508 USGS Events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2015–2024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554480" y="1719072"/>
            <a:ext cx="402336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1600200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93392" y="987552"/>
            <a:ext cx="1417320" cy="1463040"/>
          </a:xfrm>
          <a:prstGeom prst="rect">
            <a:avLst/>
          </a:prstGeom>
          <a:solidFill>
            <a:srgbClr val="1A253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93392" y="987552"/>
            <a:ext cx="14173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4832" y="10972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039112" y="162763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DBSCAN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39112" y="21305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hotspot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density extraction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47288" y="1719072"/>
            <a:ext cx="402336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1608" y="1600200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86200" y="987552"/>
            <a:ext cx="1417320" cy="1463040"/>
          </a:xfrm>
          <a:prstGeom prst="rect">
            <a:avLst/>
          </a:prstGeom>
          <a:solidFill>
            <a:srgbClr val="1A25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86200" y="987552"/>
            <a:ext cx="14173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10972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3931920" y="162763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31920" y="21305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Quiescence windows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TSL indexing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40096" y="1719072"/>
            <a:ext cx="402336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14416" y="1600200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</a:rPr>
              <a:t>▶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79008" y="987552"/>
            <a:ext cx="1417320" cy="1463040"/>
          </a:xfrm>
          <a:prstGeom prst="rect">
            <a:avLst/>
          </a:prstGeom>
          <a:solidFill>
            <a:srgbClr val="1A2535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79008" y="987552"/>
            <a:ext cx="141732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0448" y="10972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5824728" y="162763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24728" y="21305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learning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32904" y="1719072"/>
            <a:ext cx="402336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07224" y="1600200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</a:rPr>
              <a:t>▶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671816" y="987552"/>
            <a:ext cx="1417320" cy="1463040"/>
          </a:xfrm>
          <a:prstGeom prst="rect">
            <a:avLst/>
          </a:prstGeom>
          <a:solidFill>
            <a:srgbClr val="1A25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71816" y="987552"/>
            <a:ext cx="14173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63256" y="10972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7717536" y="162763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MULTI-HAZARD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17536" y="21305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3-tier risk report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 flipH="1">
            <a:off x="8083294" y="2743200"/>
            <a:ext cx="15925" cy="1911096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21707" y="2743200"/>
            <a:ext cx="27432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03336" y="2678880"/>
            <a:ext cx="548640" cy="27432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73106" y="2706311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TECTONIC SHIFT REPORT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8083296" y="3575304"/>
            <a:ext cx="2743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57616" y="3438144"/>
            <a:ext cx="548640" cy="274320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36964" y="3467535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TSUNAMI SURGE REPORT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8083296" y="4645152"/>
            <a:ext cx="2743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96027" y="4517136"/>
            <a:ext cx="548640" cy="27432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57616" y="452628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 VULNERABILITY REPORT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365760" y="2926080"/>
            <a:ext cx="2221992" cy="1613903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2926080"/>
            <a:ext cx="54864" cy="1691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2999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 Pipeline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8640" y="3291840"/>
            <a:ext cx="1847088" cy="1180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magnitude, depth, lat/lon fed through temporal quiescence analysis. TSL indexing added as time-series feature. DBSCAN cluster density computed as spatial feature vector.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926081" y="2926079"/>
            <a:ext cx="2221992" cy="1613903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40820" y="2926080"/>
            <a:ext cx="54864" cy="1691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10712" y="2999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Inference Flow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410712" y="3291840"/>
            <a:ext cx="1847088" cy="1180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Trained XGBoost model scores each coordinate request in &lt; 120ms. Probability scores mapped to categorical risk tiers via configurable threshold gates.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86402" y="2926080"/>
            <a:ext cx="2221992" cy="1613903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10286" y="2889504"/>
            <a:ext cx="54864" cy="1691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42434" y="2971799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API Gateway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42434" y="3264407"/>
            <a:ext cx="1847088" cy="1180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Flask server on Port 5000 orchestrates all ML inference calls, exposes RESTful endpoints consumed by the React 19 frontend dashboard.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Logic &amp; Scientific Integrity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HYPOCENTER GATE + EXPONENTIAL DEPTH DECAY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960120"/>
            <a:ext cx="3931920" cy="3703320"/>
          </a:xfrm>
          <a:prstGeom prst="rect">
            <a:avLst/>
          </a:prstGeom>
          <a:solidFill>
            <a:srgbClr val="1A253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051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HYPOCENTER GATE LOGIC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1417320"/>
            <a:ext cx="32918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1463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SEISMIC EVENT RECEIVED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48840" y="173736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920240"/>
            <a:ext cx="32918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1965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MAGNITUDE EXTRACTION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48840" y="224028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423160"/>
            <a:ext cx="32918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468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≥ 300km 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2926080"/>
            <a:ext cx="32918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971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YES: AUTO-CLASSIFY NOMINAL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48840" y="324612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383280"/>
            <a:ext cx="32918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429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NO: EXPONENTIAL DECAY CALC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148840" y="370332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858768"/>
            <a:ext cx="32918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904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MULTI-HAZARD SCORING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80560" y="960120"/>
            <a:ext cx="4297680" cy="3703320"/>
          </a:xfrm>
          <a:prstGeom prst="rect">
            <a:avLst/>
          </a:prstGeom>
          <a:solidFill>
            <a:srgbClr val="1A253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10515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EXPONENTIAL DEPTH DECAY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1417320"/>
            <a:ext cx="4023360" cy="640080"/>
          </a:xfrm>
          <a:prstGeom prst="rect">
            <a:avLst/>
          </a:prstGeom>
          <a:solidFill>
            <a:srgbClr val="1A0A3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14630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=  e^( −depth ÷ 120 )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617720" y="217627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→ Hazard Potential Lookup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2423160"/>
          <a:ext cx="4023360" cy="210312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Depth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 Value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Classification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 km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0.920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EXTREME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 km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0.659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100 km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0.435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MODERATE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200 km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0.189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LOW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300 km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0.082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MINIMAL → NOMINAL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500 km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0.015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NOMINAL (GATE)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Stack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TECHNOLOGY ARCHITECTURE OVERVIEW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960120"/>
            <a:ext cx="2651760" cy="3703320"/>
          </a:xfrm>
          <a:prstGeom prst="rect">
            <a:avLst/>
          </a:prstGeom>
          <a:solidFill>
            <a:srgbClr val="1A25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960120"/>
            <a:ext cx="26517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987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INTELLIGENCE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" y="1389888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3898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3.12+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16276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runtime powering all ML inference, data processing, and API gateway logic.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" y="2048256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0482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22860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Lightweight REST API gateway on Port 5000 serving model predictions to the frontend.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" y="2706624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7066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boosted ensemble model — primary intelligence classifier.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" y="3364992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3649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3602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DBSCAN clustering, feature engineering pipeline, and model evaluation utilities.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" y="4023360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023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/ NumPy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4261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72,508-record USGS data ingestion, cleaning, and feature matrix construction.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0" y="960120"/>
            <a:ext cx="2651760" cy="3703320"/>
          </a:xfrm>
          <a:prstGeom prst="rect">
            <a:avLst/>
          </a:prstGeom>
          <a:solidFill>
            <a:srgbClr val="1A2535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960120"/>
            <a:ext cx="2651760" cy="3200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987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WORKSTATION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10128" y="1389888"/>
            <a:ext cx="45720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13898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29000" y="16276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Component-driven intelligence dashboard with state-managed multi-workstation routing.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10128" y="2048256"/>
            <a:ext cx="45720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20482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Three.js (WebGL)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29000" y="22860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Hardware-accelerated 3D volumetric globe rendering engine for seismic visualization.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310128" y="2706624"/>
            <a:ext cx="45720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29000" y="27066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Leaflet.js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42900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GIS mapping for the Intelligence Desk location targeting workstation.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310128" y="3364992"/>
            <a:ext cx="45720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29000" y="33649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429000" y="3602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Sub-100ms HMR development server and production bundler for the React frontend.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310128" y="4023360"/>
            <a:ext cx="45720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29000" y="4023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Design System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429000" y="4261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dark-theme intelligence dashboard aesthetic with neon cyan accents.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35040" y="960120"/>
            <a:ext cx="2651760" cy="3703320"/>
          </a:xfrm>
          <a:prstGeom prst="rect">
            <a:avLst/>
          </a:prstGeom>
          <a:solidFill>
            <a:srgbClr val="1A25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35040" y="960120"/>
            <a:ext cx="26517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0" y="987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&amp; RESEARCH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44768" y="1389888"/>
            <a:ext cx="457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63640" y="13898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USGS Archive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16276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72,508 real seismic events (2015–2024) — magnitude, depth, coordinates, time.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44768" y="2048256"/>
            <a:ext cx="457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20482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 Research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263640" y="22860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notebooks documenting XGBoost training experiments and validation runs.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44768" y="2706624"/>
            <a:ext cx="457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63640" y="27066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DBSCAN Clusters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26364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Pre-computed spatial cluster density maps for all global tectonic plate regions.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144768" y="3364992"/>
            <a:ext cx="457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63640" y="33649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Registries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63640" y="3602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Processed data files stored in /data/ — fully reproducible pipeline.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— SEISMOSENSE INTELLIGENCE PLATFORM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 &amp; Innovation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MAKES QUAKEINTEL DIFFERENT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3795" y="950975"/>
            <a:ext cx="4251960" cy="1170432"/>
          </a:xfrm>
          <a:prstGeom prst="rect">
            <a:avLst/>
          </a:prstGeom>
          <a:solidFill>
            <a:srgbClr val="1A25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795" y="950975"/>
            <a:ext cx="502920" cy="1170432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795" y="950975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8155" y="1042415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Multi-Hazard Intelligence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8155" y="1316735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First-of-kind unified platform combining Tectonic Shift, Tsunami Surge, and Infrastructure Vulnerability into a single inference pipeline — not three separate tools.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48635" y="950975"/>
            <a:ext cx="4251960" cy="1170432"/>
          </a:xfrm>
          <a:prstGeom prst="rect">
            <a:avLst/>
          </a:prstGeom>
          <a:solidFill>
            <a:srgbClr val="1A25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8635" y="950975"/>
            <a:ext cx="502920" cy="117043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8635" y="950975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42995" y="1042415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98.17% Accuracy on Real Data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42995" y="1316735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Trained on actual USGS seismic archives — not synthetic data. Validated on held-out test sets with stratified K-Fold cross-validation ensuring no data leakage.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3795" y="2249423"/>
            <a:ext cx="4251960" cy="1170432"/>
          </a:xfrm>
          <a:prstGeom prst="rect">
            <a:avLst/>
          </a:prstGeom>
          <a:solidFill>
            <a:srgbClr val="1A25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3795" y="2249423"/>
            <a:ext cx="502920" cy="1170432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795" y="2249423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8155" y="2340863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3D Volumetric Visualization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8155" y="2615183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 2D map overlays, QuakeIntel renders hypocenter nodes in genuine Z-axis space, mapping mantle depth to visual depth in a live-rotating WebGL globe.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48635" y="2249423"/>
            <a:ext cx="4251960" cy="1170432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48635" y="2249423"/>
            <a:ext cx="502920" cy="117043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8635" y="2249423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42995" y="2340863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Quiescence Indexing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42995" y="2615183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 TSL (Time-Since-Last) feature engineering captures stress accumulation patterns in seismic cells — a key differentiator vs. magnitude-only models.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3795" y="3547871"/>
            <a:ext cx="4251960" cy="1170432"/>
          </a:xfrm>
          <a:prstGeom prst="rect">
            <a:avLst/>
          </a:prstGeom>
          <a:solidFill>
            <a:srgbClr val="1A25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3795" y="3547871"/>
            <a:ext cx="502920" cy="117043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3795" y="3547871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08155" y="3639311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Safety Ceilings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8155" y="3913631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Exponential depth decay and the Hypocenter Gate (300km+) ensure the model never over-amplifies deep-earth events — scientific integrity baked into the architecture.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48635" y="3547871"/>
            <a:ext cx="4251960" cy="1170432"/>
          </a:xfrm>
          <a:prstGeom prst="rect">
            <a:avLst/>
          </a:prstGeom>
          <a:solidFill>
            <a:srgbClr val="1A253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48635" y="3547871"/>
            <a:ext cx="502920" cy="117043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8635" y="3547871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242995" y="3639311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Sub-120ms Inference Latency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42995" y="3913631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end-to-end response — coordinate input to hazard report — delivered in under 120ms via optimized Flask API and pre-computed cluster features.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242380"/>
            <a:ext cx="6400800" cy="3657600"/>
          </a:xfrm>
          <a:prstGeom prst="ellipse">
            <a:avLst/>
          </a:prstGeom>
          <a:solidFill>
            <a:srgbClr val="001830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98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28108" y="699579"/>
            <a:ext cx="3477209" cy="27425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8752" y="1101916"/>
            <a:ext cx="6988007" cy="886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</a:t>
            </a: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structural resilience</a:t>
            </a:r>
            <a:endParaRPr lang="en-US" sz="40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through digital surveillance.</a:t>
            </a:r>
            <a:r>
              <a:rPr lang="en-US" sz="40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2240280" y="2098612"/>
            <a:ext cx="4572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22357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72,508 USGS seismic records synthesized into a 3-tier hazard intelligence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25880" y="25283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XGBoost ensemble achieving 98.17% accuracy with 0.9726 F1-Score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28209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Real-time 3D volumetric globe powered by Three.js WebGL rendering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1135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Sub-120ms inference from coordinate input to confidential hazard report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4055364"/>
            <a:ext cx="4572000" cy="685800"/>
          </a:xfrm>
          <a:prstGeom prst="rect">
            <a:avLst/>
          </a:prstGeom>
          <a:solidFill>
            <a:srgbClr val="164E6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415137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Vansh Agrawal  |  RA2311026010120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86000" y="4443983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SRM Institute of Science &amp; Technology  |  github.com/vansh070605/QuakeIntel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19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  QUAKEINTEL  |  Vansh Agrawal  RA2311026010120  |  SRM Institute of Science &amp; Technology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795528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1876</Words>
  <Application>Microsoft Office PowerPoint</Application>
  <PresentationFormat>On-screen Show (16:9)</PresentationFormat>
  <Paragraphs>387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QuakeIntel: Project SeismoSense v4.3.5</dc:title>
  <dc:subject>PptxGenJS Presentation</dc:subject>
  <dc:creator>Vansh Agrawal</dc:creator>
  <cp:lastModifiedBy>Vansh Agrawal</cp:lastModifiedBy>
  <cp:revision>3</cp:revision>
  <dcterms:created xsi:type="dcterms:W3CDTF">2026-04-14T07:41:42Z</dcterms:created>
  <dcterms:modified xsi:type="dcterms:W3CDTF">2026-04-14T08:03:18Z</dcterms:modified>
</cp:coreProperties>
</file>