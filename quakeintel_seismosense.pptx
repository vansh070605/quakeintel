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3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6290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54864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6400800" y="731520"/>
            <a:ext cx="2286000" cy="228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7315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300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PLATFORM  |  SEISMIC HAZARD ANALYTICS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QuakeIntel</a:t>
            </a:r>
            <a:endParaRPr lang="en-US" sz="5800" dirty="0"/>
          </a:p>
        </p:txBody>
      </p:sp>
      <p:sp>
        <p:nvSpPr>
          <p:cNvPr id="8" name="Shape 5"/>
          <p:cNvSpPr/>
          <p:nvPr/>
        </p:nvSpPr>
        <p:spPr>
          <a:xfrm>
            <a:off x="457200" y="2029968"/>
            <a:ext cx="3840480" cy="54864"/>
          </a:xfrm>
          <a:prstGeom prst="rect">
            <a:avLst/>
          </a:prstGeom>
          <a:solidFill>
            <a:srgbClr val="00FFFF"/>
          </a:solidFill>
          <a:ln w="12700">
            <a:solidFill>
              <a:srgbClr val="00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21945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SeismoSense v4.3.5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57200" y="26974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Seismic Synthesis &amp;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Hazard Intelligence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" y="3611880"/>
            <a:ext cx="1554480" cy="594360"/>
          </a:xfrm>
          <a:prstGeom prst="rect">
            <a:avLst/>
          </a:prstGeom>
          <a:solidFill>
            <a:srgbClr val="1C2333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36301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72,508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39044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Records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194560" y="3611880"/>
            <a:ext cx="1554480" cy="594360"/>
          </a:xfrm>
          <a:prstGeom prst="rect">
            <a:avLst/>
          </a:prstGeom>
          <a:solidFill>
            <a:srgbClr val="1C2333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194560" y="36301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98.17%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194560" y="39044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3931920" y="3611880"/>
            <a:ext cx="1554480" cy="594360"/>
          </a:xfrm>
          <a:prstGeom prst="rect">
            <a:avLst/>
          </a:prstGeom>
          <a:solidFill>
            <a:srgbClr val="1C2333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931920" y="36301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&lt;120ms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931920" y="39044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998464" y="457200"/>
            <a:ext cx="3108960" cy="0"/>
          </a:xfrm>
          <a:prstGeom prst="line">
            <a:avLst/>
          </a:prstGeom>
          <a:noFill/>
          <a:ln w="6350">
            <a:solidFill>
              <a:srgbClr val="1E3A4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998464" y="1097280"/>
            <a:ext cx="3108960" cy="0"/>
          </a:xfrm>
          <a:prstGeom prst="line">
            <a:avLst/>
          </a:prstGeom>
          <a:noFill/>
          <a:ln w="6350">
            <a:solidFill>
              <a:srgbClr val="1E3A4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998464" y="1737360"/>
            <a:ext cx="3108960" cy="0"/>
          </a:xfrm>
          <a:prstGeom prst="line">
            <a:avLst/>
          </a:prstGeom>
          <a:noFill/>
          <a:ln w="6350">
            <a:solidFill>
              <a:srgbClr val="1E3A4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998464" y="2377440"/>
            <a:ext cx="3108960" cy="0"/>
          </a:xfrm>
          <a:prstGeom prst="line">
            <a:avLst/>
          </a:prstGeom>
          <a:noFill/>
          <a:ln w="6350">
            <a:solidFill>
              <a:srgbClr val="1E3A4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998464" y="3017520"/>
            <a:ext cx="3108960" cy="0"/>
          </a:xfrm>
          <a:prstGeom prst="line">
            <a:avLst/>
          </a:prstGeom>
          <a:noFill/>
          <a:ln w="6350">
            <a:solidFill>
              <a:srgbClr val="1E3A4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998464" y="3657600"/>
            <a:ext cx="3108960" cy="0"/>
          </a:xfrm>
          <a:prstGeom prst="line">
            <a:avLst/>
          </a:prstGeom>
          <a:noFill/>
          <a:ln w="6350">
            <a:solidFill>
              <a:srgbClr val="1E3A4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998464" y="4297680"/>
            <a:ext cx="3108960" cy="0"/>
          </a:xfrm>
          <a:prstGeom prst="line">
            <a:avLst/>
          </a:prstGeom>
          <a:noFill/>
          <a:ln w="6350">
            <a:solidFill>
              <a:srgbClr val="1E3A4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RESEARCH GRADE</a:t>
            </a:r>
            <a:endParaRPr lang="en-US" sz="800" dirty="0"/>
          </a:p>
        </p:txBody>
      </p:sp>
      <p:sp>
        <p:nvSpPr>
          <p:cNvPr id="28" name="Shape 22">
            <a:extLst>
              <a:ext uri="{FF2B5EF4-FFF2-40B4-BE49-F238E27FC236}">
                <a16:creationId xmlns:a16="http://schemas.microsoft.com/office/drawing/2014/main" id="{559D3F79-D8D6-52B0-F15C-B29426943A64}"/>
              </a:ext>
            </a:extLst>
          </p:cNvPr>
          <p:cNvSpPr/>
          <p:nvPr/>
        </p:nvSpPr>
        <p:spPr>
          <a:xfrm>
            <a:off x="0" y="4892040"/>
            <a:ext cx="9144000" cy="256031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993E6C0B-2032-BF94-D4CC-385435152329}"/>
              </a:ext>
            </a:extLst>
          </p:cNvPr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QuakeIntel  ·  SeismoSense v4.3.5  ·  Universal Seismic Synthesis &amp; Global Hazard Intelligence  ·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Abstract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  ·  MISSION STATEMENT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822960"/>
            <a:ext cx="9144000" cy="9144"/>
          </a:xfrm>
          <a:prstGeom prst="rect">
            <a:avLst/>
          </a:prstGeom>
          <a:solidFill>
            <a:srgbClr val="1E3A4F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841248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4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05840"/>
            <a:ext cx="45720" cy="1371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07899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QuakeIntel?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4173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QuakeIntel is a high-fidelity intelligence platform engineered to bridge the gap between raw lithospheric telemetry and actionable geospatial intelligence. By fusing ensemble machine learning with multi-hazard synthesis, it transforms seismic signal streams into operationally relevant risk intelligence for infrastructure planners, emergency managers, and geoscientists.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578608"/>
            <a:ext cx="265176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4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578608"/>
            <a:ext cx="2651760" cy="54864"/>
          </a:xfrm>
          <a:prstGeom prst="rect">
            <a:avLst/>
          </a:prstGeom>
          <a:solidFill>
            <a:srgbClr val="00FFFF"/>
          </a:solidFill>
          <a:ln w="12700">
            <a:solidFill>
              <a:srgbClr val="00FFFF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697480"/>
            <a:ext cx="347472" cy="34747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14400" y="26700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Lithospheric Telemetry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2920" y="3090672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real-time USGS seismic feeds spanning 72,508+ catalogued events with full parameter fidelity.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00400" y="2578608"/>
            <a:ext cx="265176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4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00400" y="2578608"/>
            <a:ext cx="2651760" cy="5486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2697480"/>
            <a:ext cx="347472" cy="34747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749040" y="26700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Intelligence Core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3337560" y="3090672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ensemble classifier with temporal feature engineering delivers sub-second hazard scoring.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6035040" y="2578608"/>
            <a:ext cx="265176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4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035040" y="2578608"/>
            <a:ext cx="26517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2697480"/>
            <a:ext cx="347472" cy="34747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583680" y="26700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Intelligence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6172200" y="3090672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Risk-tiered outputs delivered via Intelligence Desk — dual-pane GIS targeting and threat matrices.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QuakeIntel | SeismoSense v4.3.5  ·  CONFIDENTIAL</a:t>
            </a:r>
            <a:endParaRPr lang="en-US" sz="800" dirty="0"/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7C1C873B-2953-79AF-4420-923C287E13EC}"/>
              </a:ext>
            </a:extLst>
          </p:cNvPr>
          <p:cNvSpPr/>
          <p:nvPr/>
        </p:nvSpPr>
        <p:spPr>
          <a:xfrm>
            <a:off x="0" y="4892040"/>
            <a:ext cx="9144000" cy="256031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5A5362AC-A27D-06B3-0D7F-B4F707B4DEBE}"/>
              </a:ext>
            </a:extLst>
          </p:cNvPr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QuakeIntel  ·  SeismoSense v4.3.5  ·  Universal Seismic Synthesis &amp; Global Hazard Intelligence  ·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Framework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MULTI-HAZARD SYNTHESIS MATRIX  ·  PHYSICAL SAFETY CEILING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822960"/>
            <a:ext cx="9144000" cy="9144"/>
          </a:xfrm>
          <a:prstGeom prst="rect">
            <a:avLst/>
          </a:prstGeom>
          <a:solidFill>
            <a:srgbClr val="1E3A4F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60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MULTI-HAZARD SYNTHESIS MATRIX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298448"/>
            <a:ext cx="1508760" cy="205740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4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298448"/>
            <a:ext cx="15087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44752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38912" y="1920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Tectonic Shift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38912" y="2304288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deformation, fault slip vectors, and crustal stress accumulation modelling across active plate boundaries.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029968" y="1298448"/>
            <a:ext cx="1508760" cy="205740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4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029968" y="1298448"/>
            <a:ext cx="1508760" cy="64008"/>
          </a:xfrm>
          <a:prstGeom prst="rect">
            <a:avLst/>
          </a:prstGeom>
          <a:solidFill>
            <a:srgbClr val="00FFFF"/>
          </a:solidFill>
          <a:ln w="12700">
            <a:solidFill>
              <a:srgbClr val="00FFFF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608" y="1444752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103120" y="1920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Tsunami Surge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2103120" y="2304288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Sub-oceanic displacement models linked to hypocenter depth and seafloor geometry for far-field surge potential.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3694176" y="1298448"/>
            <a:ext cx="1508760" cy="205740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4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694176" y="1298448"/>
            <a:ext cx="150876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2816" y="1444752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767328" y="1920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Loss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3767328" y="2304288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damage matrices cross-referenced against exposure databases and Vs30 site amplification factors.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5394960" y="960120"/>
            <a:ext cx="3383280" cy="242316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4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394960" y="960120"/>
            <a:ext cx="45720" cy="242316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577840" y="10515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Safety Ceiling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5577840" y="13898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Depth Decay Function: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5577840" y="1691640"/>
            <a:ext cx="3017520" cy="566928"/>
          </a:xfrm>
          <a:prstGeom prst="rect">
            <a:avLst/>
          </a:prstGeom>
          <a:solidFill>
            <a:srgbClr val="0A0F1A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577840" y="171907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 =  e^( −depth / 120 )</a:t>
            </a:r>
            <a:endParaRPr lang="en-US" sz="1800" dirty="0"/>
          </a:p>
        </p:txBody>
      </p:sp>
      <p:sp>
        <p:nvSpPr>
          <p:cNvPr id="29" name="Text 24"/>
          <p:cNvSpPr/>
          <p:nvPr/>
        </p:nvSpPr>
        <p:spPr>
          <a:xfrm>
            <a:off x="5577840" y="23317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Surface energy proxy  |  </a:t>
            </a: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</a:t>
            </a: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hypocenter depth (km)</a:t>
            </a:r>
            <a:endParaRPr lang="en-US" sz="850" dirty="0"/>
          </a:p>
        </p:txBody>
      </p:sp>
      <p:sp>
        <p:nvSpPr>
          <p:cNvPr id="30" name="Text 25"/>
          <p:cNvSpPr/>
          <p:nvPr/>
        </p:nvSpPr>
        <p:spPr>
          <a:xfrm>
            <a:off x="5577840" y="263347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hypocenter depth increases, surface energy transmission decays exponentially — providing a calibrated ceiling for maximum realistic surface impact assessment. Events beyond 300km are gated to nominal classification.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QuakeIntel | SeismoSense v4.3.5  ·  CONFIDENTIAL</a:t>
            </a:r>
            <a:endParaRPr lang="en-US" sz="800" dirty="0"/>
          </a:p>
        </p:txBody>
      </p:sp>
      <p:sp>
        <p:nvSpPr>
          <p:cNvPr id="32" name="Shape 22">
            <a:extLst>
              <a:ext uri="{FF2B5EF4-FFF2-40B4-BE49-F238E27FC236}">
                <a16:creationId xmlns:a16="http://schemas.microsoft.com/office/drawing/2014/main" id="{528C54B8-946E-2992-BB7B-74CFBB1CAC08}"/>
              </a:ext>
            </a:extLst>
          </p:cNvPr>
          <p:cNvSpPr/>
          <p:nvPr/>
        </p:nvSpPr>
        <p:spPr>
          <a:xfrm>
            <a:off x="0" y="4892040"/>
            <a:ext cx="9144000" cy="256031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71727D65-3EE1-5386-170B-B64F9BC125C9}"/>
              </a:ext>
            </a:extLst>
          </p:cNvPr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QuakeIntel  ·  SeismoSense v4.3.5  ·  Universal Seismic Synthesis &amp; Global Hazard Intelligence  ·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Methodology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ENSEMBLE CORE  ·  FEATURE ENGINEERING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822960"/>
            <a:ext cx="9144000" cy="9144"/>
          </a:xfrm>
          <a:prstGeom prst="rect">
            <a:avLst/>
          </a:prstGeom>
          <a:solidFill>
            <a:srgbClr val="1E3A4F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5303520" cy="210312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4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05840"/>
            <a:ext cx="45720" cy="2103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9728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107899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Ensemble Core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1536192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Dataset: 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72,508 USGS seismic event records
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Classes: 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tiers (Low / Moderate / Critical)
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Size: 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 gradient-boosted decision trees
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stratified cross-validation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852160" y="10058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52160" y="1353312"/>
            <a:ext cx="283464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4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852160" y="1353312"/>
            <a:ext cx="4572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35040" y="13716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Quiescence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035040" y="154533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inter-event silence intervals to detect stress build-up in fault systems before rupture onset.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5852160" y="1810512"/>
            <a:ext cx="283464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4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852160" y="1810512"/>
            <a:ext cx="45720" cy="38404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35040" y="18288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TSL Indexing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035040" y="200253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Time-Since-Last (TSL) quantifies recurrence gaps normalized by fault segment activity history.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5852160" y="2267712"/>
            <a:ext cx="283464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4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852160" y="2267712"/>
            <a:ext cx="45720" cy="384048"/>
          </a:xfrm>
          <a:prstGeom prst="rect">
            <a:avLst/>
          </a:prstGeom>
          <a:solidFill>
            <a:srgbClr val="00FFFF"/>
          </a:solidFill>
          <a:ln w="12700">
            <a:solidFill>
              <a:srgbClr val="00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35040" y="22860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Gradient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035040" y="245973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hypocenter depth fed into E = e^(-d/120) decay model as a cardinal predictive feature.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5852160" y="2724912"/>
            <a:ext cx="283464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4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852160" y="2724912"/>
            <a:ext cx="4572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35040" y="27432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Density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035040" y="291693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cluster proximity scores representing hotspot pressure gradients.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365760" y="3218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USGS DATA  →  NORMALISATION  →  FEATURE EXTRACTION  →  XGBOOST  →  HAZARD CLASS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365760" y="3493008"/>
            <a:ext cx="8412480" cy="502920"/>
          </a:xfrm>
          <a:prstGeom prst="rect">
            <a:avLst/>
          </a:prstGeom>
          <a:solidFill>
            <a:srgbClr val="1C2333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48640" y="35295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parameters are iteratively optimised using Bayesian hyperparameter search (n_trials=200). Early stopping with patience=50 prevents overfitting on sparse geophysical event classes.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QuakeIntel | SeismoSense v4.3.5  ·  CONFIDENTIAL</a:t>
            </a:r>
            <a:endParaRPr lang="en-US" sz="800" dirty="0"/>
          </a:p>
        </p:txBody>
      </p:sp>
      <p:sp>
        <p:nvSpPr>
          <p:cNvPr id="33" name="Shape 22">
            <a:extLst>
              <a:ext uri="{FF2B5EF4-FFF2-40B4-BE49-F238E27FC236}">
                <a16:creationId xmlns:a16="http://schemas.microsoft.com/office/drawing/2014/main" id="{8F9A38C7-973C-0E96-EC1A-4955B911EA73}"/>
              </a:ext>
            </a:extLst>
          </p:cNvPr>
          <p:cNvSpPr/>
          <p:nvPr/>
        </p:nvSpPr>
        <p:spPr>
          <a:xfrm>
            <a:off x="0" y="4892040"/>
            <a:ext cx="9144000" cy="256031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4" name="Text 23">
            <a:extLst>
              <a:ext uri="{FF2B5EF4-FFF2-40B4-BE49-F238E27FC236}">
                <a16:creationId xmlns:a16="http://schemas.microsoft.com/office/drawing/2014/main" id="{7DCE4C1F-4B3A-5BFA-296D-A9798861132E}"/>
              </a:ext>
            </a:extLst>
          </p:cNvPr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QuakeIntel  ·  SeismoSense v4.3.5  ·  Universal Seismic Synthesis &amp; Global Hazard Intelligence  ·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Intelligence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CLUSTERING  ·  TECTONIC HOTSPOT MAPPING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822960"/>
            <a:ext cx="9144000" cy="9144"/>
          </a:xfrm>
          <a:prstGeom prst="rect">
            <a:avLst/>
          </a:prstGeom>
          <a:solidFill>
            <a:srgbClr val="1E3A4F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60120"/>
            <a:ext cx="5486400" cy="2926080"/>
          </a:xfrm>
          <a:prstGeom prst="rect">
            <a:avLst/>
          </a:prstGeom>
          <a:solidFill>
            <a:srgbClr val="07111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960120"/>
            <a:ext cx="5486400" cy="0"/>
          </a:xfrm>
          <a:prstGeom prst="line">
            <a:avLst/>
          </a:prstGeom>
          <a:noFill/>
          <a:ln w="3810">
            <a:solidFill>
              <a:srgbClr val="1E3A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380744"/>
            <a:ext cx="5486400" cy="0"/>
          </a:xfrm>
          <a:prstGeom prst="line">
            <a:avLst/>
          </a:prstGeom>
          <a:noFill/>
          <a:ln w="3810">
            <a:solidFill>
              <a:srgbClr val="1E3A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801368"/>
            <a:ext cx="5486400" cy="0"/>
          </a:xfrm>
          <a:prstGeom prst="line">
            <a:avLst/>
          </a:prstGeom>
          <a:noFill/>
          <a:ln w="3810">
            <a:solidFill>
              <a:srgbClr val="1E3A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221992"/>
            <a:ext cx="5486400" cy="0"/>
          </a:xfrm>
          <a:prstGeom prst="line">
            <a:avLst/>
          </a:prstGeom>
          <a:noFill/>
          <a:ln w="3810">
            <a:solidFill>
              <a:srgbClr val="1E3A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642616"/>
            <a:ext cx="5486400" cy="0"/>
          </a:xfrm>
          <a:prstGeom prst="line">
            <a:avLst/>
          </a:prstGeom>
          <a:noFill/>
          <a:ln w="3810">
            <a:solidFill>
              <a:srgbClr val="1E3A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063240"/>
            <a:ext cx="5486400" cy="0"/>
          </a:xfrm>
          <a:prstGeom prst="line">
            <a:avLst/>
          </a:prstGeom>
          <a:noFill/>
          <a:ln w="3810">
            <a:solidFill>
              <a:srgbClr val="1E3A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483864"/>
            <a:ext cx="5486400" cy="0"/>
          </a:xfrm>
          <a:prstGeom prst="line">
            <a:avLst/>
          </a:prstGeom>
          <a:noFill/>
          <a:ln w="3810">
            <a:solidFill>
              <a:srgbClr val="1E3A4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904488"/>
            <a:ext cx="5486400" cy="0"/>
          </a:xfrm>
          <a:prstGeom prst="line">
            <a:avLst/>
          </a:prstGeom>
          <a:noFill/>
          <a:ln w="3810">
            <a:solidFill>
              <a:srgbClr val="1E3A4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960120"/>
            <a:ext cx="0" cy="2926080"/>
          </a:xfrm>
          <a:prstGeom prst="line">
            <a:avLst/>
          </a:prstGeom>
          <a:noFill/>
          <a:ln w="3810">
            <a:solidFill>
              <a:srgbClr val="1E3A4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960120"/>
            <a:ext cx="0" cy="2926080"/>
          </a:xfrm>
          <a:prstGeom prst="line">
            <a:avLst/>
          </a:prstGeom>
          <a:noFill/>
          <a:ln w="3810">
            <a:solidFill>
              <a:srgbClr val="1E3A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80160" y="960120"/>
            <a:ext cx="0" cy="2926080"/>
          </a:xfrm>
          <a:prstGeom prst="line">
            <a:avLst/>
          </a:prstGeom>
          <a:noFill/>
          <a:ln w="3810">
            <a:solidFill>
              <a:srgbClr val="1E3A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37360" y="960120"/>
            <a:ext cx="0" cy="2926080"/>
          </a:xfrm>
          <a:prstGeom prst="line">
            <a:avLst/>
          </a:prstGeom>
          <a:noFill/>
          <a:ln w="3810">
            <a:solidFill>
              <a:srgbClr val="1E3A4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94560" y="960120"/>
            <a:ext cx="0" cy="2926080"/>
          </a:xfrm>
          <a:prstGeom prst="line">
            <a:avLst/>
          </a:prstGeom>
          <a:noFill/>
          <a:ln w="3810">
            <a:solidFill>
              <a:srgbClr val="1E3A4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51760" y="960120"/>
            <a:ext cx="0" cy="2926080"/>
          </a:xfrm>
          <a:prstGeom prst="line">
            <a:avLst/>
          </a:prstGeom>
          <a:noFill/>
          <a:ln w="3810">
            <a:solidFill>
              <a:srgbClr val="1E3A4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08960" y="960120"/>
            <a:ext cx="0" cy="2926080"/>
          </a:xfrm>
          <a:prstGeom prst="line">
            <a:avLst/>
          </a:prstGeom>
          <a:noFill/>
          <a:ln w="3810">
            <a:solidFill>
              <a:srgbClr val="1E3A4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66160" y="960120"/>
            <a:ext cx="0" cy="2926080"/>
          </a:xfrm>
          <a:prstGeom prst="line">
            <a:avLst/>
          </a:prstGeom>
          <a:noFill/>
          <a:ln w="3810">
            <a:solidFill>
              <a:srgbClr val="1E3A4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23360" y="960120"/>
            <a:ext cx="0" cy="2926080"/>
          </a:xfrm>
          <a:prstGeom prst="line">
            <a:avLst/>
          </a:prstGeom>
          <a:noFill/>
          <a:ln w="3810">
            <a:solidFill>
              <a:srgbClr val="1E3A4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0" y="960120"/>
            <a:ext cx="0" cy="2926080"/>
          </a:xfrm>
          <a:prstGeom prst="line">
            <a:avLst/>
          </a:prstGeom>
          <a:noFill/>
          <a:ln w="3810">
            <a:solidFill>
              <a:srgbClr val="1E3A4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37760" y="960120"/>
            <a:ext cx="0" cy="2926080"/>
          </a:xfrm>
          <a:prstGeom prst="line">
            <a:avLst/>
          </a:prstGeom>
          <a:noFill/>
          <a:ln w="3810">
            <a:solidFill>
              <a:srgbClr val="1E3A4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94960" y="960120"/>
            <a:ext cx="0" cy="2926080"/>
          </a:xfrm>
          <a:prstGeom prst="line">
            <a:avLst/>
          </a:prstGeom>
          <a:noFill/>
          <a:ln w="3810">
            <a:solidFill>
              <a:srgbClr val="1E3A4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7667" y="1634947"/>
            <a:ext cx="936346" cy="936346"/>
          </a:xfrm>
          <a:prstGeom prst="ellipse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3232" y="1810512"/>
            <a:ext cx="585216" cy="585216"/>
          </a:xfrm>
          <a:prstGeom prst="ellipse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24051" y="1141171"/>
            <a:ext cx="643738" cy="64373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444752" y="1261872"/>
            <a:ext cx="402336" cy="402336"/>
          </a:xfrm>
          <a:prstGeom prst="ellipse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94330" y="1997050"/>
            <a:ext cx="760781" cy="760781"/>
          </a:xfrm>
          <a:prstGeom prst="ellipse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36976" y="2139696"/>
            <a:ext cx="475488" cy="475488"/>
          </a:xfrm>
          <a:prstGeom prst="ellipse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96973" y="3028493"/>
            <a:ext cx="526694" cy="526694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395728" y="3127248"/>
            <a:ext cx="329184" cy="329184"/>
          </a:xfrm>
          <a:prstGeom prst="ellipse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79392" y="1353312"/>
            <a:ext cx="585216" cy="585216"/>
          </a:xfrm>
          <a:prstGeom prst="ellipse">
            <a:avLst/>
          </a:prstGeom>
          <a:solidFill>
            <a:srgbClr val="818CF8">
              <a:alpha val="2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89120" y="1463040"/>
            <a:ext cx="365760" cy="365760"/>
          </a:xfrm>
          <a:prstGeom prst="ellipse">
            <a:avLst/>
          </a:prstGeom>
          <a:solidFill>
            <a:srgbClr val="818CF8">
              <a:alpha val="7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909974" y="2446934"/>
            <a:ext cx="409651" cy="409651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986784" y="2523744"/>
            <a:ext cx="256032" cy="256032"/>
          </a:xfrm>
          <a:prstGeom prst="ellipse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390448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Seismic Cluster Map (DBSCAN Visualisation)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080760" y="960120"/>
            <a:ext cx="265176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4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080760" y="960120"/>
            <a:ext cx="45720" cy="1188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63640" y="10241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Algorithm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263640" y="130759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(epsilon): 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0.85° arc distance
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MinPts: 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events minimum
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filter: 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depth-weighted exclusion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080760" y="2240280"/>
            <a:ext cx="265176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4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080760" y="2240280"/>
            <a:ext cx="45720" cy="4023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63640" y="226771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ZONE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263640" y="244144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High-density cluster core — direct tectonic plate interaction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080760" y="2715768"/>
            <a:ext cx="265176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4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080760" y="2715768"/>
            <a:ext cx="45720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63640" y="27432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ZONE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263640" y="291693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density periphery — stress transfer influence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080760" y="3191256"/>
            <a:ext cx="265176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4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080760" y="3191256"/>
            <a:ext cx="45720" cy="402336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63640" y="321868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MONITORED ZONE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263640" y="339242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density outliers — watch-state classification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080760" y="3666744"/>
            <a:ext cx="265176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4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080760" y="3666744"/>
            <a:ext cx="45720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63640" y="369417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ZONE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263640" y="386791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Quiescent baseline — temporal anomaly detection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QuakeIntel | SeismoSense v4.3.5  ·  CONFIDENTIAL</a:t>
            </a:r>
            <a:endParaRPr lang="en-US" sz="800" dirty="0"/>
          </a:p>
        </p:txBody>
      </p:sp>
      <p:sp>
        <p:nvSpPr>
          <p:cNvPr id="62" name="Shape 22">
            <a:extLst>
              <a:ext uri="{FF2B5EF4-FFF2-40B4-BE49-F238E27FC236}">
                <a16:creationId xmlns:a16="http://schemas.microsoft.com/office/drawing/2014/main" id="{A9694A58-6EC6-F11E-170A-26844EF957C2}"/>
              </a:ext>
            </a:extLst>
          </p:cNvPr>
          <p:cNvSpPr/>
          <p:nvPr/>
        </p:nvSpPr>
        <p:spPr>
          <a:xfrm>
            <a:off x="0" y="4892040"/>
            <a:ext cx="9144000" cy="256031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63" name="Text 23">
            <a:extLst>
              <a:ext uri="{FF2B5EF4-FFF2-40B4-BE49-F238E27FC236}">
                <a16:creationId xmlns:a16="http://schemas.microsoft.com/office/drawing/2014/main" id="{0D061169-B232-8D7B-F1CC-17D93A106CE5}"/>
              </a:ext>
            </a:extLst>
          </p:cNvPr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QuakeIntel  ·  SeismoSense v4.3.5  ·  Universal Seismic Synthesis &amp; Global Hazard Intelligence  ·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Simulation Lab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VOLUMETRIC 3D MAPPING ENGINE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822960"/>
            <a:ext cx="9144000" cy="9144"/>
          </a:xfrm>
          <a:prstGeom prst="rect">
            <a:avLst/>
          </a:prstGeom>
          <a:solidFill>
            <a:srgbClr val="1E3A4F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60120"/>
            <a:ext cx="5303520" cy="3154680"/>
          </a:xfrm>
          <a:prstGeom prst="rect">
            <a:avLst/>
          </a:prstGeom>
          <a:solidFill>
            <a:srgbClr val="030A14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3291840"/>
            <a:ext cx="4754880" cy="0"/>
          </a:xfrm>
          <a:prstGeom prst="line">
            <a:avLst/>
          </a:prstGeom>
          <a:noFill/>
          <a:ln w="6350">
            <a:solidFill>
              <a:srgbClr val="1E3A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3291840"/>
            <a:ext cx="4352544" cy="0"/>
          </a:xfrm>
          <a:prstGeom prst="line">
            <a:avLst/>
          </a:prstGeom>
          <a:noFill/>
          <a:ln w="6350">
            <a:solidFill>
              <a:srgbClr val="1E3A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0976" y="3291840"/>
            <a:ext cx="3950208" cy="0"/>
          </a:xfrm>
          <a:prstGeom prst="line">
            <a:avLst/>
          </a:prstGeom>
          <a:noFill/>
          <a:ln w="6350">
            <a:solidFill>
              <a:srgbClr val="1E3A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2144" y="3291840"/>
            <a:ext cx="3547872" cy="0"/>
          </a:xfrm>
          <a:prstGeom prst="line">
            <a:avLst/>
          </a:prstGeom>
          <a:noFill/>
          <a:ln w="6350">
            <a:solidFill>
              <a:srgbClr val="1E3A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53312" y="3291840"/>
            <a:ext cx="3145536" cy="0"/>
          </a:xfrm>
          <a:prstGeom prst="line">
            <a:avLst/>
          </a:prstGeom>
          <a:noFill/>
          <a:ln w="6350">
            <a:solidFill>
              <a:srgbClr val="1E3A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54480" y="3291840"/>
            <a:ext cx="2743200" cy="0"/>
          </a:xfrm>
          <a:prstGeom prst="line">
            <a:avLst/>
          </a:prstGeom>
          <a:noFill/>
          <a:ln w="6350">
            <a:solidFill>
              <a:srgbClr val="1E3A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1280160"/>
            <a:ext cx="0" cy="2057400"/>
          </a:xfrm>
          <a:prstGeom prst="line">
            <a:avLst/>
          </a:prstGeom>
          <a:noFill/>
          <a:ln w="6350">
            <a:solidFill>
              <a:srgbClr val="0D20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70432" y="1280160"/>
            <a:ext cx="0" cy="2057400"/>
          </a:xfrm>
          <a:prstGeom prst="line">
            <a:avLst/>
          </a:prstGeom>
          <a:noFill/>
          <a:ln w="6350">
            <a:solidFill>
              <a:srgbClr val="0D20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92224" y="1280160"/>
            <a:ext cx="0" cy="2057400"/>
          </a:xfrm>
          <a:prstGeom prst="line">
            <a:avLst/>
          </a:prstGeom>
          <a:noFill/>
          <a:ln w="6350">
            <a:solidFill>
              <a:srgbClr val="0D20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14016" y="1280160"/>
            <a:ext cx="0" cy="2057400"/>
          </a:xfrm>
          <a:prstGeom prst="line">
            <a:avLst/>
          </a:prstGeom>
          <a:noFill/>
          <a:ln w="6350">
            <a:solidFill>
              <a:srgbClr val="0D203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35808" y="1280160"/>
            <a:ext cx="0" cy="2057400"/>
          </a:xfrm>
          <a:prstGeom prst="line">
            <a:avLst/>
          </a:prstGeom>
          <a:noFill/>
          <a:ln w="6350">
            <a:solidFill>
              <a:srgbClr val="0D203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0" y="1280160"/>
            <a:ext cx="0" cy="2057400"/>
          </a:xfrm>
          <a:prstGeom prst="line">
            <a:avLst/>
          </a:prstGeom>
          <a:noFill/>
          <a:ln w="6350">
            <a:solidFill>
              <a:srgbClr val="0D20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79392" y="1280160"/>
            <a:ext cx="0" cy="2057400"/>
          </a:xfrm>
          <a:prstGeom prst="line">
            <a:avLst/>
          </a:prstGeom>
          <a:noFill/>
          <a:ln w="6350">
            <a:solidFill>
              <a:srgbClr val="0D203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01184" y="1280160"/>
            <a:ext cx="0" cy="2057400"/>
          </a:xfrm>
          <a:prstGeom prst="line">
            <a:avLst/>
          </a:prstGeom>
          <a:noFill/>
          <a:ln w="6350">
            <a:solidFill>
              <a:srgbClr val="0D203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17520" y="1097280"/>
            <a:ext cx="0" cy="2377440"/>
          </a:xfrm>
          <a:prstGeom prst="line">
            <a:avLst/>
          </a:prstGeom>
          <a:noFill/>
          <a:ln w="19050">
            <a:solidFill>
              <a:srgbClr val="0891B2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3063240" y="10789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063240" y="333756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Mantle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170432" y="1216152"/>
            <a:ext cx="402336" cy="402336"/>
          </a:xfrm>
          <a:prstGeom prst="ellipse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47088" y="1664208"/>
            <a:ext cx="329184" cy="329184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37560" y="1965960"/>
            <a:ext cx="274320" cy="274320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450592" y="2450592"/>
            <a:ext cx="219456" cy="219456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32504" y="2752344"/>
            <a:ext cx="164592" cy="164592"/>
          </a:xfrm>
          <a:prstGeom prst="ellipse">
            <a:avLst/>
          </a:prstGeom>
          <a:solidFill>
            <a:srgbClr val="00FFFF">
              <a:alpha val="80000"/>
            </a:srgbClr>
          </a:solidFill>
          <a:ln w="12700">
            <a:solidFill>
              <a:srgbClr val="00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73352" y="2999232"/>
            <a:ext cx="128016" cy="128016"/>
          </a:xfrm>
          <a:prstGeom prst="ellipse">
            <a:avLst/>
          </a:prstGeom>
          <a:solidFill>
            <a:srgbClr val="818CF8">
              <a:alpha val="8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1422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Volumetric Hypocenter Render (Depth-Coded)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897880" y="960120"/>
            <a:ext cx="2834640" cy="315468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4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897880" y="960120"/>
            <a:ext cx="45720" cy="315468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80760" y="10515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Specifications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080760" y="1417320"/>
            <a:ext cx="2560320" cy="27432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0" y="144475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Renderer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296912" y="144475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WebGL 2.0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080760" y="1737360"/>
            <a:ext cx="25603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0" y="176479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System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296912" y="176479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Mantle (WGS-84)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080760" y="2057400"/>
            <a:ext cx="2560320" cy="27432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26480" y="208483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Axis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296912" y="208483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Z-axis (km below surface)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080760" y="2377440"/>
            <a:ext cx="25603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26480" y="240487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Encoding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296912" y="240487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Depth-to-surface decay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080760" y="2697480"/>
            <a:ext cx="2560320" cy="27432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26480" y="272491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Fidelity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296912" y="272491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Sub-km hypocenter precision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080760" y="3017520"/>
            <a:ext cx="25603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26480" y="304495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296912" y="304495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60fps @ 50,000 events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080760" y="3337560"/>
            <a:ext cx="2560320" cy="27432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26480" y="336499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7296912" y="336499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orbit + zoom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080760" y="3657600"/>
            <a:ext cx="25603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26480" y="368503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7296912" y="368503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/ WebM capture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QuakeIntel | SeismoSense v4.3.5  ·  CONFIDENTIAL</a:t>
            </a:r>
            <a:endParaRPr lang="en-US" sz="800" dirty="0"/>
          </a:p>
        </p:txBody>
      </p:sp>
      <p:sp>
        <p:nvSpPr>
          <p:cNvPr id="60" name="Shape 22">
            <a:extLst>
              <a:ext uri="{FF2B5EF4-FFF2-40B4-BE49-F238E27FC236}">
                <a16:creationId xmlns:a16="http://schemas.microsoft.com/office/drawing/2014/main" id="{408F0A1B-5723-C1AC-6960-359DF7EDC1BA}"/>
              </a:ext>
            </a:extLst>
          </p:cNvPr>
          <p:cNvSpPr/>
          <p:nvPr/>
        </p:nvSpPr>
        <p:spPr>
          <a:xfrm>
            <a:off x="0" y="4892040"/>
            <a:ext cx="9144000" cy="256031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61" name="Text 23">
            <a:extLst>
              <a:ext uri="{FF2B5EF4-FFF2-40B4-BE49-F238E27FC236}">
                <a16:creationId xmlns:a16="http://schemas.microsoft.com/office/drawing/2014/main" id="{6A1B1CD7-0004-628B-460A-ABB039BC9B30}"/>
              </a:ext>
            </a:extLst>
          </p:cNvPr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QuakeIntel  ·  SeismoSense v4.3.5  ·  Universal Seismic Synthesis &amp; Global Hazard Intelligence  ·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Dashboard — Intelligence Desk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DUAL-PANE GIS INTERFACE  ·  RISK TIER SCORING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822960"/>
            <a:ext cx="9144000" cy="9144"/>
          </a:xfrm>
          <a:prstGeom prst="rect">
            <a:avLst/>
          </a:prstGeom>
          <a:solidFill>
            <a:srgbClr val="1E3A4F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60120"/>
            <a:ext cx="3931920" cy="324612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4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60120"/>
            <a:ext cx="3931920" cy="347472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058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⬤  RISK TIER SCORING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1417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673352"/>
            <a:ext cx="3291840" cy="18288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1673352"/>
            <a:ext cx="3028493" cy="182880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0752" y="1417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19842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2240280"/>
            <a:ext cx="3291840" cy="18288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240280"/>
            <a:ext cx="2337206" cy="18288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30752" y="19842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255117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2807208"/>
            <a:ext cx="3291840" cy="18288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2807208"/>
            <a:ext cx="1580083" cy="182880"/>
          </a:xfrm>
          <a:prstGeom prst="rect">
            <a:avLst/>
          </a:prstGeom>
          <a:solidFill>
            <a:srgbClr val="818CF8">
              <a:alpha val="8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30752" y="255117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31181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3374136"/>
            <a:ext cx="3291840" cy="18288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374136"/>
            <a:ext cx="691286" cy="18288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30752" y="311810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3657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Events — Active Monitoring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48640" y="391363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5.8  Honshu, JP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017520" y="39136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48640" y="41148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6.1  Sumatra, ID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017520" y="41148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48640" y="431596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4.9  Chile, CL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017520" y="43159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480560" y="960120"/>
            <a:ext cx="4251960" cy="324612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4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480560" y="960120"/>
            <a:ext cx="4251960" cy="347472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10058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⬤  GIS LOCALIZED TARGETING  (Leaflet.js)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480560" y="1307592"/>
            <a:ext cx="4251960" cy="2441448"/>
          </a:xfrm>
          <a:prstGeom prst="rect">
            <a:avLst/>
          </a:prstGeom>
          <a:solidFill>
            <a:srgbClr val="071018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80560" y="1307592"/>
            <a:ext cx="4251960" cy="0"/>
          </a:xfrm>
          <a:prstGeom prst="line">
            <a:avLst/>
          </a:prstGeom>
          <a:noFill/>
          <a:ln w="6350">
            <a:solidFill>
              <a:srgbClr val="0D1F2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480560" y="1655064"/>
            <a:ext cx="4251960" cy="0"/>
          </a:xfrm>
          <a:prstGeom prst="line">
            <a:avLst/>
          </a:prstGeom>
          <a:noFill/>
          <a:ln w="6350">
            <a:solidFill>
              <a:srgbClr val="0D1F2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80560" y="2002536"/>
            <a:ext cx="4251960" cy="0"/>
          </a:xfrm>
          <a:prstGeom prst="line">
            <a:avLst/>
          </a:prstGeom>
          <a:noFill/>
          <a:ln w="6350">
            <a:solidFill>
              <a:srgbClr val="0D1F2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80560" y="2350008"/>
            <a:ext cx="4251960" cy="0"/>
          </a:xfrm>
          <a:prstGeom prst="line">
            <a:avLst/>
          </a:prstGeom>
          <a:noFill/>
          <a:ln w="6350">
            <a:solidFill>
              <a:srgbClr val="0D1F2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80560" y="2697480"/>
            <a:ext cx="4251960" cy="0"/>
          </a:xfrm>
          <a:prstGeom prst="line">
            <a:avLst/>
          </a:prstGeom>
          <a:noFill/>
          <a:ln w="6350">
            <a:solidFill>
              <a:srgbClr val="0D1F2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80560" y="3044952"/>
            <a:ext cx="4251960" cy="0"/>
          </a:xfrm>
          <a:prstGeom prst="line">
            <a:avLst/>
          </a:prstGeom>
          <a:noFill/>
          <a:ln w="6350">
            <a:solidFill>
              <a:srgbClr val="0D1F2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480560" y="3392424"/>
            <a:ext cx="4251960" cy="0"/>
          </a:xfrm>
          <a:prstGeom prst="line">
            <a:avLst/>
          </a:prstGeom>
          <a:noFill/>
          <a:ln w="6350">
            <a:solidFill>
              <a:srgbClr val="0D1F2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480560" y="1307592"/>
            <a:ext cx="0" cy="2441448"/>
          </a:xfrm>
          <a:prstGeom prst="line">
            <a:avLst/>
          </a:prstGeom>
          <a:noFill/>
          <a:ln w="6350">
            <a:solidFill>
              <a:srgbClr val="0D1F2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910328" y="1307592"/>
            <a:ext cx="0" cy="2441448"/>
          </a:xfrm>
          <a:prstGeom prst="line">
            <a:avLst/>
          </a:prstGeom>
          <a:noFill/>
          <a:ln w="6350">
            <a:solidFill>
              <a:srgbClr val="0D1F2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340096" y="1307592"/>
            <a:ext cx="0" cy="2441448"/>
          </a:xfrm>
          <a:prstGeom prst="line">
            <a:avLst/>
          </a:prstGeom>
          <a:noFill/>
          <a:ln w="6350">
            <a:solidFill>
              <a:srgbClr val="0D1F2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769864" y="1307592"/>
            <a:ext cx="0" cy="2441448"/>
          </a:xfrm>
          <a:prstGeom prst="line">
            <a:avLst/>
          </a:prstGeom>
          <a:noFill/>
          <a:ln w="6350">
            <a:solidFill>
              <a:srgbClr val="0D1F2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199632" y="1307592"/>
            <a:ext cx="0" cy="2441448"/>
          </a:xfrm>
          <a:prstGeom prst="line">
            <a:avLst/>
          </a:prstGeom>
          <a:noFill/>
          <a:ln w="6350">
            <a:solidFill>
              <a:srgbClr val="0D1F2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629400" y="1307592"/>
            <a:ext cx="0" cy="2441448"/>
          </a:xfrm>
          <a:prstGeom prst="line">
            <a:avLst/>
          </a:prstGeom>
          <a:noFill/>
          <a:ln w="6350">
            <a:solidFill>
              <a:srgbClr val="0D1F2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059168" y="1307592"/>
            <a:ext cx="0" cy="2441448"/>
          </a:xfrm>
          <a:prstGeom prst="line">
            <a:avLst/>
          </a:prstGeom>
          <a:noFill/>
          <a:ln w="6350">
            <a:solidFill>
              <a:srgbClr val="0D1F2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488936" y="1307592"/>
            <a:ext cx="0" cy="2441448"/>
          </a:xfrm>
          <a:prstGeom prst="line">
            <a:avLst/>
          </a:prstGeom>
          <a:noFill/>
          <a:ln w="6350">
            <a:solidFill>
              <a:srgbClr val="0D1F2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918704" y="1307592"/>
            <a:ext cx="0" cy="2441448"/>
          </a:xfrm>
          <a:prstGeom prst="line">
            <a:avLst/>
          </a:prstGeom>
          <a:noFill/>
          <a:ln w="6350">
            <a:solidFill>
              <a:srgbClr val="0D1F2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348472" y="1307592"/>
            <a:ext cx="0" cy="2441448"/>
          </a:xfrm>
          <a:prstGeom prst="line">
            <a:avLst/>
          </a:prstGeom>
          <a:noFill/>
          <a:ln w="6350">
            <a:solidFill>
              <a:srgbClr val="0D1F2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172200" y="2148840"/>
            <a:ext cx="731520" cy="731520"/>
          </a:xfrm>
          <a:prstGeom prst="ellipse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327648" y="2304288"/>
            <a:ext cx="420624" cy="420624"/>
          </a:xfrm>
          <a:prstGeom prst="ellipse">
            <a:avLst/>
          </a:prstGeom>
          <a:solidFill>
            <a:srgbClr val="EF4444">
              <a:alpha val="6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537960" y="2103120"/>
            <a:ext cx="0" cy="164592"/>
          </a:xfrm>
          <a:prstGeom prst="line">
            <a:avLst/>
          </a:prstGeom>
          <a:noFill/>
          <a:ln w="12700">
            <a:solidFill>
              <a:srgbClr val="EF444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537960" y="2670048"/>
            <a:ext cx="0" cy="164592"/>
          </a:xfrm>
          <a:prstGeom prst="line">
            <a:avLst/>
          </a:prstGeom>
          <a:noFill/>
          <a:ln w="12700">
            <a:solidFill>
              <a:srgbClr val="EF444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126480" y="2514600"/>
            <a:ext cx="164592" cy="0"/>
          </a:xfrm>
          <a:prstGeom prst="line">
            <a:avLst/>
          </a:prstGeom>
          <a:noFill/>
          <a:ln w="12700">
            <a:solidFill>
              <a:srgbClr val="EF444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830568" y="2514600"/>
            <a:ext cx="164592" cy="0"/>
          </a:xfrm>
          <a:prstGeom prst="line">
            <a:avLst/>
          </a:prstGeom>
          <a:noFill/>
          <a:ln w="12700">
            <a:solidFill>
              <a:srgbClr val="EF444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0" y="37947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Zone: Honshu Corridor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6.1 — Depth 34km — CRITICAL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QuakeIntel | SeismoSense v4.3.5  ·  CONFIDENTIAL</a:t>
            </a:r>
            <a:endParaRPr lang="en-US" sz="800" dirty="0"/>
          </a:p>
        </p:txBody>
      </p:sp>
      <p:sp>
        <p:nvSpPr>
          <p:cNvPr id="62" name="Shape 22">
            <a:extLst>
              <a:ext uri="{FF2B5EF4-FFF2-40B4-BE49-F238E27FC236}">
                <a16:creationId xmlns:a16="http://schemas.microsoft.com/office/drawing/2014/main" id="{A89C1771-0B19-4E24-35D1-748577451892}"/>
              </a:ext>
            </a:extLst>
          </p:cNvPr>
          <p:cNvSpPr/>
          <p:nvPr/>
        </p:nvSpPr>
        <p:spPr>
          <a:xfrm>
            <a:off x="0" y="4892040"/>
            <a:ext cx="9144000" cy="256031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63" name="Text 23">
            <a:extLst>
              <a:ext uri="{FF2B5EF4-FFF2-40B4-BE49-F238E27FC236}">
                <a16:creationId xmlns:a16="http://schemas.microsoft.com/office/drawing/2014/main" id="{5A97084E-E878-B75A-91CA-C3AFFE199874}"/>
              </a:ext>
            </a:extLst>
          </p:cNvPr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QuakeIntel  ·  SeismoSense v4.3.5  ·  Universal Seismic Synthesis &amp; Global Hazard Intelligence  ·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 ·  F1-SCORE  ·  SENSING LATENCY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822960"/>
            <a:ext cx="9144000" cy="9144"/>
          </a:xfrm>
          <a:prstGeom prst="rect">
            <a:avLst/>
          </a:prstGeom>
          <a:solidFill>
            <a:srgbClr val="1E3A4F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60120"/>
            <a:ext cx="2606040" cy="1481328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4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60120"/>
            <a:ext cx="2606040" cy="64008"/>
          </a:xfrm>
          <a:prstGeom prst="rect">
            <a:avLst/>
          </a:prstGeom>
          <a:solidFill>
            <a:srgbClr val="00FFFF"/>
          </a:solidFill>
          <a:ln w="12700">
            <a:solidFill>
              <a:srgbClr val="00FFFF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9728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1554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98.17%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457200" y="20299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Ultimate Accuracy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224942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72,508 USGS event test set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200400" y="960120"/>
            <a:ext cx="2606040" cy="1481328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4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0" y="960120"/>
            <a:ext cx="260604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09728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37560" y="1554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0.9726</a:t>
            </a:r>
            <a:endParaRPr lang="en-US" sz="3000" dirty="0"/>
          </a:p>
        </p:txBody>
      </p:sp>
      <p:sp>
        <p:nvSpPr>
          <p:cNvPr id="17" name="Text 13"/>
          <p:cNvSpPr/>
          <p:nvPr/>
        </p:nvSpPr>
        <p:spPr>
          <a:xfrm>
            <a:off x="3291840" y="20299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291840" y="224942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macro-average, 3-class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6035040" y="960120"/>
            <a:ext cx="2606040" cy="1481328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4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035040" y="960120"/>
            <a:ext cx="26060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097280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172200" y="1554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&lt;120ms</a:t>
            </a:r>
            <a:endParaRPr lang="en-US" sz="3000" dirty="0"/>
          </a:p>
        </p:txBody>
      </p:sp>
      <p:sp>
        <p:nvSpPr>
          <p:cNvPr id="23" name="Text 18"/>
          <p:cNvSpPr/>
          <p:nvPr/>
        </p:nvSpPr>
        <p:spPr>
          <a:xfrm>
            <a:off x="6126480" y="20299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 Latency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126480" y="224942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response time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365760" y="26060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REPORT — PER CLASS BREAKDOWN</a:t>
            </a:r>
            <a:endParaRPr lang="en-US" sz="9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907792"/>
          <a:ext cx="8412480" cy="1554480"/>
        </p:xfrm>
        <a:graphic>
          <a:graphicData uri="http://schemas.openxmlformats.org/drawingml/2006/table">
            <a:tbl>
              <a:tblPr/>
              <a:tblGrid>
                <a:gridCol w="1682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0.9862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24,312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31,089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0.9588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17,107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AVG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72,508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" name="Text 21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QuakeIntel | SeismoSense v4.3.5  ·  CONFIDENTIAL</a:t>
            </a:r>
            <a:endParaRPr lang="en-US" sz="800" dirty="0"/>
          </a:p>
        </p:txBody>
      </p:sp>
      <p:sp>
        <p:nvSpPr>
          <p:cNvPr id="28" name="Shape 22">
            <a:extLst>
              <a:ext uri="{FF2B5EF4-FFF2-40B4-BE49-F238E27FC236}">
                <a16:creationId xmlns:a16="http://schemas.microsoft.com/office/drawing/2014/main" id="{8D2A4EA8-D958-EAAC-457C-3AE0C48AA65D}"/>
              </a:ext>
            </a:extLst>
          </p:cNvPr>
          <p:cNvSpPr/>
          <p:nvPr/>
        </p:nvSpPr>
        <p:spPr>
          <a:xfrm>
            <a:off x="0" y="4892040"/>
            <a:ext cx="9144000" cy="256031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BA2383CC-7C3C-B1C7-F464-821394287D54}"/>
              </a:ext>
            </a:extLst>
          </p:cNvPr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QuakeIntel  ·  SeismoSense v4.3.5  ·  Universal Seismic Synthesis &amp; Global Hazard Intelligence  ·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REGISTRY  →  CLUSTERING  →  CLASSIFICATION  →  SYNTHESIS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822960"/>
            <a:ext cx="9144000" cy="9144"/>
          </a:xfrm>
          <a:prstGeom prst="rect">
            <a:avLst/>
          </a:prstGeom>
          <a:solidFill>
            <a:srgbClr val="1E3A4F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1463040" cy="1572768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4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34440"/>
            <a:ext cx="1463040" cy="640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371600"/>
            <a:ext cx="475488" cy="4754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38912" y="192024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Seismic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38912" y="233172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USGS FDSN Feed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72,508 events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1828800" y="1965960"/>
            <a:ext cx="201168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984248" y="190195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048256" y="1234440"/>
            <a:ext cx="1463040" cy="1572768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4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048256" y="1234440"/>
            <a:ext cx="146304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1176" y="1371600"/>
            <a:ext cx="475488" cy="47548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121408" y="192024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2121408" y="233172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ε=0.85°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MinPts=7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3511296" y="1965960"/>
            <a:ext cx="201168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666744" y="190195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730752" y="1234440"/>
            <a:ext cx="1463040" cy="1572768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4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730752" y="1234440"/>
            <a:ext cx="1463040" cy="6400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3672" y="1371600"/>
            <a:ext cx="475488" cy="47548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803904" y="192024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3803904" y="233172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TSL · Quiescence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Gradient</a:t>
            </a:r>
            <a:endParaRPr lang="en-US" sz="800" dirty="0"/>
          </a:p>
        </p:txBody>
      </p:sp>
      <p:sp>
        <p:nvSpPr>
          <p:cNvPr id="26" name="Shape 21"/>
          <p:cNvSpPr/>
          <p:nvPr/>
        </p:nvSpPr>
        <p:spPr>
          <a:xfrm>
            <a:off x="5193792" y="1965960"/>
            <a:ext cx="201168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349240" y="190195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5413248" y="1234440"/>
            <a:ext cx="1463040" cy="1572768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4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5413248" y="1234440"/>
            <a:ext cx="14630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6168" y="1371600"/>
            <a:ext cx="475488" cy="47548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486400" y="192024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5486400" y="233172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1200 trees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3-class output</a:t>
            </a:r>
            <a:endParaRPr lang="en-US" sz="800" dirty="0"/>
          </a:p>
        </p:txBody>
      </p:sp>
      <p:sp>
        <p:nvSpPr>
          <p:cNvPr id="33" name="Shape 27"/>
          <p:cNvSpPr/>
          <p:nvPr/>
        </p:nvSpPr>
        <p:spPr>
          <a:xfrm>
            <a:off x="6876288" y="1965960"/>
            <a:ext cx="201168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7031736" y="190195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7095744" y="1234440"/>
            <a:ext cx="1463040" cy="1572768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4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7095744" y="1234440"/>
            <a:ext cx="146304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8664" y="1371600"/>
            <a:ext cx="475488" cy="475488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7168896" y="192024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Multi-Hazard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950" dirty="0"/>
          </a:p>
        </p:txBody>
      </p:sp>
      <p:sp>
        <p:nvSpPr>
          <p:cNvPr id="39" name="Text 32"/>
          <p:cNvSpPr/>
          <p:nvPr/>
        </p:nvSpPr>
        <p:spPr>
          <a:xfrm>
            <a:off x="7168896" y="233172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Tectonic · Tsunami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800" dirty="0"/>
          </a:p>
        </p:txBody>
      </p:sp>
      <p:sp>
        <p:nvSpPr>
          <p:cNvPr id="40" name="Text 33"/>
          <p:cNvSpPr/>
          <p:nvPr/>
        </p:nvSpPr>
        <p:spPr>
          <a:xfrm>
            <a:off x="365760" y="2999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 DETAIL</a:t>
            </a:r>
            <a:endParaRPr lang="en-US" sz="900" dirty="0"/>
          </a:p>
        </p:txBody>
      </p:sp>
      <p:sp>
        <p:nvSpPr>
          <p:cNvPr id="41" name="Shape 34"/>
          <p:cNvSpPr/>
          <p:nvPr/>
        </p:nvSpPr>
        <p:spPr>
          <a:xfrm>
            <a:off x="365760" y="3291840"/>
            <a:ext cx="265176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4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365760" y="3291840"/>
            <a:ext cx="45720" cy="1188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548640" y="336499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Layer</a:t>
            </a:r>
            <a:endParaRPr lang="en-US" sz="1000" dirty="0"/>
          </a:p>
        </p:txBody>
      </p:sp>
      <p:sp>
        <p:nvSpPr>
          <p:cNvPr id="44" name="Text 37"/>
          <p:cNvSpPr/>
          <p:nvPr/>
        </p:nvSpPr>
        <p:spPr>
          <a:xfrm>
            <a:off x="548640" y="3657600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USGS ComCat API polling at 30s intervals. Schema validation + duplicate suppression via event ID hashing.</a:t>
            </a:r>
            <a:endParaRPr lang="en-US" sz="850" dirty="0"/>
          </a:p>
        </p:txBody>
      </p:sp>
      <p:sp>
        <p:nvSpPr>
          <p:cNvPr id="45" name="Shape 38"/>
          <p:cNvSpPr/>
          <p:nvPr/>
        </p:nvSpPr>
        <p:spPr>
          <a:xfrm>
            <a:off x="3227832" y="3291840"/>
            <a:ext cx="265176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4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3227832" y="3291840"/>
            <a:ext cx="45720" cy="118872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3410712" y="336499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Layer</a:t>
            </a:r>
            <a:endParaRPr lang="en-US" sz="1000" dirty="0"/>
          </a:p>
        </p:txBody>
      </p:sp>
      <p:sp>
        <p:nvSpPr>
          <p:cNvPr id="48" name="Text 41"/>
          <p:cNvSpPr/>
          <p:nvPr/>
        </p:nvSpPr>
        <p:spPr>
          <a:xfrm>
            <a:off x="3410712" y="3657600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projection (WGS-84 → Mercator), depth normalisation, and temporal index construction.</a:t>
            </a:r>
            <a:endParaRPr lang="en-US" sz="850" dirty="0"/>
          </a:p>
        </p:txBody>
      </p:sp>
      <p:sp>
        <p:nvSpPr>
          <p:cNvPr id="49" name="Shape 42"/>
          <p:cNvSpPr/>
          <p:nvPr/>
        </p:nvSpPr>
        <p:spPr>
          <a:xfrm>
            <a:off x="6089904" y="3291840"/>
            <a:ext cx="265176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4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0" name="Shape 43"/>
          <p:cNvSpPr/>
          <p:nvPr/>
        </p:nvSpPr>
        <p:spPr>
          <a:xfrm>
            <a:off x="6089904" y="3291840"/>
            <a:ext cx="45720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6272784" y="336499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1000" dirty="0"/>
          </a:p>
        </p:txBody>
      </p:sp>
      <p:sp>
        <p:nvSpPr>
          <p:cNvPr id="52" name="Text 45"/>
          <p:cNvSpPr/>
          <p:nvPr/>
        </p:nvSpPr>
        <p:spPr>
          <a:xfrm>
            <a:off x="6272784" y="3657600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scoring produces tri-class probability vectors. Synthesis matrix fuses all three hazard channels.</a:t>
            </a:r>
            <a:endParaRPr lang="en-US" sz="850" dirty="0"/>
          </a:p>
        </p:txBody>
      </p:sp>
      <p:sp>
        <p:nvSpPr>
          <p:cNvPr id="53" name="Text 46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QuakeIntel | SeismoSense v4.3.5  ·  CONFIDENTIAL</a:t>
            </a:r>
            <a:endParaRPr lang="en-US" sz="800" dirty="0"/>
          </a:p>
        </p:txBody>
      </p:sp>
      <p:sp>
        <p:nvSpPr>
          <p:cNvPr id="54" name="Shape 22">
            <a:extLst>
              <a:ext uri="{FF2B5EF4-FFF2-40B4-BE49-F238E27FC236}">
                <a16:creationId xmlns:a16="http://schemas.microsoft.com/office/drawing/2014/main" id="{725624DD-3A15-1047-1514-F9BB71B1A68F}"/>
              </a:ext>
            </a:extLst>
          </p:cNvPr>
          <p:cNvSpPr/>
          <p:nvPr/>
        </p:nvSpPr>
        <p:spPr>
          <a:xfrm>
            <a:off x="0" y="4892040"/>
            <a:ext cx="9144000" cy="256031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55" name="Text 23">
            <a:extLst>
              <a:ext uri="{FF2B5EF4-FFF2-40B4-BE49-F238E27FC236}">
                <a16:creationId xmlns:a16="http://schemas.microsoft.com/office/drawing/2014/main" id="{002B9638-C2B9-E111-3A2C-7E52CD155C0C}"/>
              </a:ext>
            </a:extLst>
          </p:cNvPr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QuakeIntel  ·  SeismoSense v4.3.5  ·  Universal Seismic Synthesis &amp; Global Hazard Intelligence  ·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Logic — The Hypocenter Gate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INTEGRITY ENFORCEMENT  ·  DEPTH-GATED CLASSIFICATION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822960"/>
            <a:ext cx="9144000" cy="9144"/>
          </a:xfrm>
          <a:prstGeom prst="rect">
            <a:avLst/>
          </a:prstGeom>
          <a:solidFill>
            <a:srgbClr val="1E3A4F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60120"/>
            <a:ext cx="5120640" cy="338328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4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60120"/>
            <a:ext cx="45720" cy="3383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0515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HYPOCENTER GATE LOGIC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4813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— 70 km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03120" y="1508760"/>
            <a:ext cx="3200400" cy="18288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0" y="1508760"/>
            <a:ext cx="3291840" cy="182880"/>
          </a:xfrm>
          <a:prstGeom prst="rect">
            <a:avLst/>
          </a:prstGeom>
          <a:solidFill>
            <a:srgbClr val="EF4444">
              <a:alpha val="7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1737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74720" y="17373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classification pipeline active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94360" y="20939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— 150 km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103120" y="2121408"/>
            <a:ext cx="3200400" cy="18288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03120" y="2121408"/>
            <a:ext cx="2560320" cy="182880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03120" y="23500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74720" y="235000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surface hazard modifier applied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94360" y="27066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— 300 km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103120" y="2734056"/>
            <a:ext cx="3200400" cy="18288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03120" y="2734056"/>
            <a:ext cx="1645920" cy="182880"/>
          </a:xfrm>
          <a:prstGeom prst="rect">
            <a:avLst/>
          </a:prstGeom>
          <a:solidFill>
            <a:srgbClr val="818CF8">
              <a:alpha val="75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03120" y="29626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74720" y="296265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Tsunami + infrastructure risk suppressed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94360" y="33192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300 km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103120" y="3346704"/>
            <a:ext cx="3200400" cy="18288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03120" y="3346704"/>
            <a:ext cx="822960" cy="182880"/>
          </a:xfrm>
          <a:prstGeom prst="rect">
            <a:avLst/>
          </a:prstGeom>
          <a:solidFill>
            <a:srgbClr val="10B981">
              <a:alpha val="7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03120" y="35753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→ NOMINAL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474720" y="35753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Auto-classified: nominal. No hazard output.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94360" y="3749040"/>
            <a:ext cx="4663440" cy="411480"/>
          </a:xfrm>
          <a:prstGeom prst="rect">
            <a:avLst/>
          </a:prstGeom>
          <a:solidFill>
            <a:srgbClr val="061A1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378561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depth &gt; 300km → GATE ENGAGED → output = NOMINAL (confidence: 100%)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69280" y="960120"/>
            <a:ext cx="3063240" cy="338328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4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669280" y="960120"/>
            <a:ext cx="45720" cy="3383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70448" y="1051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Gate Exists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870448" y="1389888"/>
            <a:ext cx="265176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4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870448" y="1389888"/>
            <a:ext cx="45720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53328" y="14630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Realism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053328" y="173736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depths &gt;300km, seismic wave energy is attenuated beyond measurable surface impact. Classifying such events as hazardous would be scientifically incorrect.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870448" y="2377440"/>
            <a:ext cx="265176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4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870448" y="2377440"/>
            <a:ext cx="45720" cy="86868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53328" y="24505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Integrity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053328" y="272491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sparsity at ultra-deep depths creates distributional mismatch. Gating prevents erroneous extrapolation outside the model's valid domain.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870448" y="3364992"/>
            <a:ext cx="265176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4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870448" y="3364992"/>
            <a:ext cx="45720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53328" y="34381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Trust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053328" y="371246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response systems must not receive false alerts. The gate acts as a hard-coded scientific floor ensuring only physically credible outputs propagate downstream.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QuakeIntel | SeismoSense v4.3.5  ·  CONFIDENTIAL</a:t>
            </a:r>
            <a:endParaRPr lang="en-US" sz="800" dirty="0"/>
          </a:p>
        </p:txBody>
      </p:sp>
      <p:sp>
        <p:nvSpPr>
          <p:cNvPr id="48" name="Shape 22">
            <a:extLst>
              <a:ext uri="{FF2B5EF4-FFF2-40B4-BE49-F238E27FC236}">
                <a16:creationId xmlns:a16="http://schemas.microsoft.com/office/drawing/2014/main" id="{5C53345C-E639-B744-D409-287840AA6F16}"/>
              </a:ext>
            </a:extLst>
          </p:cNvPr>
          <p:cNvSpPr/>
          <p:nvPr/>
        </p:nvSpPr>
        <p:spPr>
          <a:xfrm>
            <a:off x="0" y="4892040"/>
            <a:ext cx="9144000" cy="256031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9" name="Text 23">
            <a:extLst>
              <a:ext uri="{FF2B5EF4-FFF2-40B4-BE49-F238E27FC236}">
                <a16:creationId xmlns:a16="http://schemas.microsoft.com/office/drawing/2014/main" id="{2CD7C0F4-EC3F-00CF-4C9B-9DF4A35492BD}"/>
              </a:ext>
            </a:extLst>
          </p:cNvPr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QuakeIntel  ·  SeismoSense v4.3.5  ·  Universal Seismic Synthesis &amp; Global Hazard Intelligence  ·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Stack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COMPONENTS  ·  PLATFORM ARCHITECTURE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822960"/>
            <a:ext cx="9144000" cy="9144"/>
          </a:xfrm>
          <a:prstGeom prst="rect">
            <a:avLst/>
          </a:prstGeom>
          <a:solidFill>
            <a:srgbClr val="1E3A4F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2651760" cy="1572768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4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05840"/>
            <a:ext cx="26517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1115568"/>
            <a:ext cx="594360" cy="201168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111556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75488" y="1143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5488" y="153619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Intelligence Engine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" y="1801368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ingestion, ML pipeline orchestration, DBSCAN spatial analysis, API services, and batch processing.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46120" y="1005840"/>
            <a:ext cx="2651760" cy="1572768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4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005840"/>
            <a:ext cx="2651760" cy="64008"/>
          </a:xfrm>
          <a:prstGeom prst="rect">
            <a:avLst/>
          </a:prstGeom>
          <a:solidFill>
            <a:srgbClr val="00FFFF"/>
          </a:solidFill>
          <a:ln w="12700">
            <a:solidFill>
              <a:srgbClr val="00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12080" y="1115568"/>
            <a:ext cx="594360" cy="201168"/>
          </a:xfrm>
          <a:prstGeom prst="rect">
            <a:avLst/>
          </a:prstGeom>
          <a:solidFill>
            <a:srgbClr val="00FFFF">
              <a:alpha val="30000"/>
            </a:srgbClr>
          </a:solidFill>
          <a:ln w="12700">
            <a:solidFill>
              <a:srgbClr val="00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111556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355848" y="1143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355848" y="153619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Classification Core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55848" y="1801368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1,200-tree gradient boosting ensemble trained on USGS registry. Hyperparameter-optimised via Bayesian search.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126480" y="1005840"/>
            <a:ext cx="2651760" cy="1572768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4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1005840"/>
            <a:ext cx="2651760" cy="6400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92440" y="1115568"/>
            <a:ext cx="594360" cy="201168"/>
          </a:xfrm>
          <a:prstGeom prst="rect">
            <a:avLst/>
          </a:prstGeom>
          <a:solidFill>
            <a:srgbClr val="818CF8">
              <a:alpha val="3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92440" y="111556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236208" y="1143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236208" y="153619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Desk UI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36208" y="1801368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Dual-pane dashboard interface with real-time event streaming, risk tier visualisation, and alert feeds.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2816352"/>
            <a:ext cx="3749040" cy="1572768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4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2816352"/>
            <a:ext cx="374904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29000" y="2926080"/>
            <a:ext cx="594360" cy="201168"/>
          </a:xfrm>
          <a:prstGeom prst="rect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29000" y="292608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75488" y="29535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475488" y="334670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Volumetric Renderer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5488" y="3611880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WebGL 2.0 engine rendering hypocenters in true WGS-84 mantle coordinates with depth-decay colour coding.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480560" y="2816352"/>
            <a:ext cx="3749040" cy="1572768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4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480560" y="2816352"/>
            <a:ext cx="3749040" cy="64008"/>
          </a:xfrm>
          <a:prstGeom prst="rect">
            <a:avLst/>
          </a:prstGeom>
          <a:solidFill>
            <a:srgbClr val="8BA7C0"/>
          </a:solidFill>
          <a:ln w="12700">
            <a:solidFill>
              <a:srgbClr val="8BA7C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43800" y="2926080"/>
            <a:ext cx="594360" cy="201168"/>
          </a:xfrm>
          <a:prstGeom prst="rect">
            <a:avLst/>
          </a:prstGeom>
          <a:solidFill>
            <a:srgbClr val="8BA7C0">
              <a:alpha val="30000"/>
            </a:srgbClr>
          </a:solidFill>
          <a:ln w="12700">
            <a:solidFill>
              <a:srgbClr val="8BA7C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43800" y="292608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590288" y="29535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4590288" y="334670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Toolchain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90288" y="3611880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Ultra-fast HMR build pipeline with tree-shaking optimisation, env-based config, and production bundling.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65760" y="4498848"/>
            <a:ext cx="8412480" cy="274320"/>
          </a:xfrm>
          <a:prstGeom prst="rect">
            <a:avLst/>
          </a:prstGeom>
          <a:solidFill>
            <a:srgbClr val="1C2333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52628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INTEGRATION:  Python 3.12  ⟷  FastAPI  ⟷  React 19 + Vite  ⟷  Three.js  ⟷  Leaflet.js  ⟷  USGS ComCat API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QuakeIntel | SeismoSense v4.3.5  ·  CONFIDENTIAL</a:t>
            </a:r>
            <a:endParaRPr lang="en-US" sz="800" dirty="0"/>
          </a:p>
        </p:txBody>
      </p:sp>
      <p:sp>
        <p:nvSpPr>
          <p:cNvPr id="46" name="Shape 22">
            <a:extLst>
              <a:ext uri="{FF2B5EF4-FFF2-40B4-BE49-F238E27FC236}">
                <a16:creationId xmlns:a16="http://schemas.microsoft.com/office/drawing/2014/main" id="{4BC7ED20-7EB9-E0D0-C3ED-A8F1CDC6FECC}"/>
              </a:ext>
            </a:extLst>
          </p:cNvPr>
          <p:cNvSpPr/>
          <p:nvPr/>
        </p:nvSpPr>
        <p:spPr>
          <a:xfrm>
            <a:off x="0" y="4892040"/>
            <a:ext cx="9144000" cy="256031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7" name="Text 23">
            <a:extLst>
              <a:ext uri="{FF2B5EF4-FFF2-40B4-BE49-F238E27FC236}">
                <a16:creationId xmlns:a16="http://schemas.microsoft.com/office/drawing/2014/main" id="{334C15DD-75AB-6EA3-BDC0-CCB0C2335A83}"/>
              </a:ext>
            </a:extLst>
          </p:cNvPr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QuakeIntel  ·  SeismoSense v4.3.5  ·  Universal Seismic Synthesis &amp; Global Hazard Intelligence  ·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0"/>
            <a:ext cx="3383280" cy="514350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0" y="0"/>
            <a:ext cx="54864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008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300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 ·  STRATEGIC VISION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5120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Structural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Through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Surveillance.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3474720" cy="64008"/>
          </a:xfrm>
          <a:prstGeom prst="rect">
            <a:avLst/>
          </a:prstGeom>
          <a:solidFill>
            <a:srgbClr val="00FFFF"/>
          </a:solidFill>
          <a:ln w="12700">
            <a:solidFill>
              <a:srgbClr val="00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834640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QuakeIntel SeismoSense v4.3.5 represents the convergence of advanced seismological science and modern AI engineering. By synthesising raw lithospheric data into structured risk intelligence, the platform equips decision-makers with the geospatial clarity needed to protect lives, infrastructure, and communities from seismic hazard.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0" y="5029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OUTCOMES</a:t>
            </a:r>
            <a:endParaRPr lang="en-US" sz="9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841248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46520" y="85953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98.17% Accuracy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46520" y="108813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Research-grade ML classification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989320" y="1344168"/>
            <a:ext cx="2743200" cy="0"/>
          </a:xfrm>
          <a:prstGeom prst="line">
            <a:avLst/>
          </a:prstGeom>
          <a:noFill/>
          <a:ln w="6350">
            <a:solidFill>
              <a:srgbClr val="1E3A4F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636776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446520" y="165506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Sensing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6446520" y="188366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&lt;120ms end-to-end latency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5989320" y="2139696"/>
            <a:ext cx="2743200" cy="0"/>
          </a:xfrm>
          <a:prstGeom prst="line">
            <a:avLst/>
          </a:prstGeom>
          <a:noFill/>
          <a:ln w="6350">
            <a:solidFill>
              <a:srgbClr val="1E3A4F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2432304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46520" y="245059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Coverage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6446520" y="267919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active plate boundaries mapped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5989320" y="2935224"/>
            <a:ext cx="2743200" cy="0"/>
          </a:xfrm>
          <a:prstGeom prst="line">
            <a:avLst/>
          </a:prstGeom>
          <a:noFill/>
          <a:ln w="6350">
            <a:solidFill>
              <a:srgbClr val="1E3A4F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3227832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446520" y="32461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Safety-First Design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6446520" y="347472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Hypocenter Gate ensures integrity</a:t>
            </a:r>
            <a:endParaRPr lang="en-US" sz="850" dirty="0"/>
          </a:p>
        </p:txBody>
      </p:sp>
      <p:sp>
        <p:nvSpPr>
          <p:cNvPr id="25" name="Shape 19"/>
          <p:cNvSpPr/>
          <p:nvPr/>
        </p:nvSpPr>
        <p:spPr>
          <a:xfrm>
            <a:off x="5989320" y="3730752"/>
            <a:ext cx="2743200" cy="0"/>
          </a:xfrm>
          <a:prstGeom prst="line">
            <a:avLst/>
          </a:prstGeom>
          <a:noFill/>
          <a:ln w="6350">
            <a:solidFill>
              <a:srgbClr val="1E3A4F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9320" y="4023360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446520" y="404164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Intelligence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6446520" y="427024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Volumetric mantle-depth rendering</a:t>
            </a:r>
            <a:endParaRPr lang="en-US" sz="850" dirty="0"/>
          </a:p>
        </p:txBody>
      </p:sp>
      <p:sp>
        <p:nvSpPr>
          <p:cNvPr id="29" name="Shape 22"/>
          <p:cNvSpPr/>
          <p:nvPr/>
        </p:nvSpPr>
        <p:spPr>
          <a:xfrm>
            <a:off x="0" y="4892040"/>
            <a:ext cx="9144000" cy="256031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QuakeIntel  ·  SeismoSense v4.3.5  ·  Universal Seismic Synthesis &amp; Global Hazard Intelligence  ·  CONFIDENTIAL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1426</Words>
  <Application>Microsoft Office PowerPoint</Application>
  <PresentationFormat>On-screen Show (16:9)</PresentationFormat>
  <Paragraphs>279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QuakeIntel: SeismoSense v4.3.5</dc:title>
  <dc:subject>PptxGenJS Presentation</dc:subject>
  <dc:creator>PptxGenJS</dc:creator>
  <cp:lastModifiedBy>Vansh Agrawal</cp:lastModifiedBy>
  <cp:revision>2</cp:revision>
  <dcterms:created xsi:type="dcterms:W3CDTF">2026-04-13T10:20:25Z</dcterms:created>
  <dcterms:modified xsi:type="dcterms:W3CDTF">2026-04-13T19:30:37Z</dcterms:modified>
</cp:coreProperties>
</file>